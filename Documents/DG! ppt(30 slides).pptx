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eg"/>
  <Override PartName="/ppt/media/image8.jpg" ContentType="image/jpeg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78" r:id="rId9"/>
    <p:sldId id="279" r:id="rId10"/>
    <p:sldId id="265" r:id="rId11"/>
    <p:sldId id="266" r:id="rId12"/>
    <p:sldId id="267" r:id="rId13"/>
    <p:sldId id="268" r:id="rId14"/>
    <p:sldId id="269" r:id="rId15"/>
    <p:sldId id="280" r:id="rId16"/>
    <p:sldId id="288" r:id="rId17"/>
    <p:sldId id="289" r:id="rId18"/>
    <p:sldId id="290" r:id="rId19"/>
    <p:sldId id="281" r:id="rId20"/>
    <p:sldId id="286" r:id="rId21"/>
    <p:sldId id="282" r:id="rId22"/>
    <p:sldId id="285" r:id="rId23"/>
    <p:sldId id="283" r:id="rId24"/>
    <p:sldId id="284" r:id="rId25"/>
    <p:sldId id="270" r:id="rId26"/>
    <p:sldId id="276" r:id="rId27"/>
    <p:sldId id="271" r:id="rId28"/>
    <p:sldId id="277" r:id="rId29"/>
    <p:sldId id="272" r:id="rId30"/>
    <p:sldId id="273" r:id="rId31"/>
  </p:sldIdLst>
  <p:sldSz cx="12192000" cy="6858000"/>
  <p:notesSz cx="12192000" cy="6858000"/>
  <p:embeddedFontLst>
    <p:embeddedFont>
      <p:font typeface="Cambria Math" panose="02040503050406030204" pitchFamily="18" charset="0"/>
      <p:regular r:id="rId33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765" y="3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412B-6FA9-4B3A-A61B-0552AC73DE3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C2694-AF22-425F-B4CB-353623C4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heliyon.2024.e36269" TargetMode="External"/><Relationship Id="rId2" Type="http://schemas.openxmlformats.org/officeDocument/2006/relationships/hyperlink" Target="https://doi.org/10.1016/j.measen.2024.10117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healthcare7020056" TargetMode="External"/><Relationship Id="rId5" Type="http://schemas.openxmlformats.org/officeDocument/2006/relationships/hyperlink" Target="https://doi.org/10.1016/j.micpro.2022.104622" TargetMode="External"/><Relationship Id="rId4" Type="http://schemas.openxmlformats.org/officeDocument/2006/relationships/hyperlink" Target="https://jtit.pl/jtit/article/view/1491/134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212641"/>
            <a:ext cx="10101072" cy="1931793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lang="en-US" sz="1800" spc="-10" dirty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</a:rPr>
              <a:t>Lightweight Blockchain-Enabled Federated Deep Learning with Differential Privacy for Secure Healthcare IoT Networks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518213" y="1983376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200" y="2354448"/>
            <a:ext cx="4304665" cy="16621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>
                <a:latin typeface="Times New Roman"/>
                <a:cs typeface="Times New Roman"/>
              </a:rPr>
              <a:t>Gujjarlapudi</a:t>
            </a:r>
            <a:r>
              <a:rPr lang="en-US" sz="1550" dirty="0">
                <a:latin typeface="Times New Roman"/>
                <a:cs typeface="Times New Roman"/>
              </a:rPr>
              <a:t> Keerthana Lazarus	 (22471A05M5)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Gali Lakshmi </a:t>
            </a:r>
            <a:r>
              <a:rPr lang="en-US" sz="1550" dirty="0" err="1">
                <a:latin typeface="Times New Roman"/>
                <a:cs typeface="Times New Roman"/>
              </a:rPr>
              <a:t>Thirupathamma</a:t>
            </a:r>
            <a:r>
              <a:rPr lang="en-US" sz="1550" dirty="0">
                <a:latin typeface="Times New Roman"/>
                <a:cs typeface="Times New Roman"/>
              </a:rPr>
              <a:t>	 (22471A05M1)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>
                <a:latin typeface="Times New Roman"/>
                <a:cs typeface="Times New Roman"/>
              </a:rPr>
              <a:t>Budala Jayabharathi		 (22471A05L5)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>
                <a:latin typeface="Times New Roman"/>
                <a:cs typeface="Times New Roman"/>
              </a:rPr>
              <a:t>Chitirala</a:t>
            </a:r>
            <a:r>
              <a:rPr lang="en-US" sz="1550" dirty="0">
                <a:latin typeface="Times New Roman"/>
                <a:cs typeface="Times New Roman"/>
              </a:rPr>
              <a:t> John Wesly                       (22471A05L8)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9768" y="3886200"/>
            <a:ext cx="4304665" cy="2086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spcBef>
                <a:spcPts val="470"/>
              </a:spcBef>
            </a:pPr>
            <a:r>
              <a:rPr lang="en-US" sz="1800" dirty="0"/>
              <a:t>  </a:t>
            </a:r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 SatheesKumar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b="1" dirty="0" err="1"/>
              <a:t>B.Tech</a:t>
            </a:r>
            <a:endParaRPr lang="en-IN" sz="900" b="1" dirty="0"/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553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DG1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DG1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76299" y="1371600"/>
            <a:ext cx="10439400" cy="40793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just"/>
            <a:r>
              <a:rPr lang="en-GB" sz="2400" dirty="0"/>
              <a:t>This project introduces </a:t>
            </a:r>
            <a:r>
              <a:rPr lang="en-GB" sz="2400" b="1" dirty="0"/>
              <a:t>LB-FDL (Lightweight Blockchain-Enabled Federated Deep Learning)</a:t>
            </a:r>
            <a:r>
              <a:rPr lang="en-GB" sz="2400" dirty="0"/>
              <a:t> with </a:t>
            </a:r>
            <a:r>
              <a:rPr lang="en-GB" sz="2400" b="1" dirty="0"/>
              <a:t>Differential Privacy (DP)</a:t>
            </a:r>
            <a:r>
              <a:rPr lang="en-GB" sz="2400" dirty="0"/>
              <a:t> for secure Healthcare IoT networks. It combines </a:t>
            </a:r>
            <a:r>
              <a:rPr lang="en-GB" sz="2400" b="1" dirty="0"/>
              <a:t>Blockchain</a:t>
            </a:r>
            <a:r>
              <a:rPr lang="en-GB" sz="2400" dirty="0"/>
              <a:t> for immutability, </a:t>
            </a:r>
            <a:r>
              <a:rPr lang="en-GB" sz="2400" b="1" dirty="0"/>
              <a:t>Federated Learning</a:t>
            </a:r>
            <a:r>
              <a:rPr lang="en-GB" sz="2400" dirty="0"/>
              <a:t> for decentralized model training, and </a:t>
            </a:r>
            <a:r>
              <a:rPr lang="en-GB" sz="2400" b="1" dirty="0"/>
              <a:t>Differential Privacy</a:t>
            </a:r>
            <a:r>
              <a:rPr lang="en-GB" sz="2400" dirty="0"/>
              <a:t> to protect sensitive patient information. The system uses </a:t>
            </a:r>
            <a:r>
              <a:rPr lang="en-GB" sz="2400" b="1" dirty="0" err="1"/>
              <a:t>MobileNet</a:t>
            </a:r>
            <a:r>
              <a:rPr lang="en-GB" sz="2400" b="1" dirty="0"/>
              <a:t>/</a:t>
            </a:r>
            <a:r>
              <a:rPr lang="en-GB" sz="2400" b="1" dirty="0" err="1"/>
              <a:t>EfficientNet</a:t>
            </a:r>
            <a:r>
              <a:rPr lang="en-GB" sz="2400" dirty="0"/>
              <a:t> and an </a:t>
            </a:r>
            <a:r>
              <a:rPr lang="en-GB" sz="2400" b="1" dirty="0"/>
              <a:t>Optimized Proof-of-Stake (</a:t>
            </a:r>
            <a:r>
              <a:rPr lang="en-GB" sz="2400" b="1" dirty="0" err="1"/>
              <a:t>PoS</a:t>
            </a:r>
            <a:r>
              <a:rPr lang="en-GB" sz="2400" b="1" dirty="0"/>
              <a:t>)</a:t>
            </a:r>
            <a:r>
              <a:rPr lang="en-GB" sz="2400" dirty="0"/>
              <a:t> consensus to reduce energy use and latency. Experiments show </a:t>
            </a:r>
            <a:r>
              <a:rPr lang="en-GB" sz="2400" b="1" dirty="0"/>
              <a:t>98.32% accuracy</a:t>
            </a:r>
            <a:r>
              <a:rPr lang="en-GB" sz="2400" dirty="0"/>
              <a:t>, </a:t>
            </a:r>
            <a:r>
              <a:rPr lang="en-GB" sz="2400" b="1" dirty="0"/>
              <a:t>30% faster convergence</a:t>
            </a:r>
            <a:r>
              <a:rPr lang="en-GB" sz="2400" dirty="0"/>
              <a:t>, and </a:t>
            </a:r>
            <a:r>
              <a:rPr lang="en-GB" sz="2400" b="1" dirty="0"/>
              <a:t>20% lower communication cost</a:t>
            </a:r>
            <a:r>
              <a:rPr lang="en-GB" sz="2400" dirty="0"/>
              <a:t>. Overall, LB-FDL provides a scalable, secure, and privacy-preserving framework that allows healthcare devices to collaborate safely without sharing raw medical data.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212641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3273" y="1143000"/>
            <a:ext cx="10972800" cy="502188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</a:p>
          <a:p>
            <a:pPr marL="213360" indent="-20066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400" b="1" dirty="0">
                <a:latin typeface="Times New Roman" panose="02020603050405020304"/>
                <a:cs typeface="Times New Roman" panose="02020603050405020304"/>
              </a:rPr>
              <a:t>Blockchain</a:t>
            </a:r>
            <a:r>
              <a:rPr lang="en-GB" sz="2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4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GB" sz="2400" dirty="0">
              <a:latin typeface="Times New Roman" panose="02020603050405020304"/>
              <a:cs typeface="Times New Roman" panose="02020603050405020304"/>
            </a:endParaRPr>
          </a:p>
          <a:p>
            <a:pPr marL="213360" marR="6985" indent="-20129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lang="en-GB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GB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tamper-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proof,</a:t>
            </a:r>
            <a:r>
              <a:rPr lang="en-GB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transparent</a:t>
            </a:r>
            <a:r>
              <a:rPr lang="en-GB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ledger</a:t>
            </a:r>
            <a:r>
              <a:rPr lang="en-GB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lang="en-GB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secures</a:t>
            </a:r>
            <a:r>
              <a:rPr lang="en-GB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every</a:t>
            </a:r>
            <a:r>
              <a:rPr lang="en-GB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transaction</a:t>
            </a:r>
            <a:r>
              <a:rPr lang="en-GB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lang="en-GB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lang="en-GB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update,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lang="en-GB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lang="en-GB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manipulation</a:t>
            </a:r>
            <a:r>
              <a:rPr lang="en-GB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nearly</a:t>
            </a:r>
            <a:r>
              <a:rPr lang="en-GB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impossible</a:t>
            </a:r>
            <a:r>
              <a:rPr lang="en-GB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GB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healthcare</a:t>
            </a:r>
            <a:r>
              <a:rPr lang="en-GB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IoT.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pPr marL="213360" marR="6350" indent="-201295">
              <a:lnSpc>
                <a:spcPts val="1690"/>
              </a:lnSpc>
              <a:spcBef>
                <a:spcPts val="5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Eliminates</a:t>
            </a:r>
            <a:r>
              <a:rPr lang="en-GB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GB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need</a:t>
            </a:r>
            <a:r>
              <a:rPr lang="en-GB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lang="en-GB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GB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lang="en-GB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authority</a:t>
            </a:r>
            <a:r>
              <a:rPr lang="en-GB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GB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distributing</a:t>
            </a:r>
            <a:r>
              <a:rPr lang="en-GB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trust</a:t>
            </a:r>
            <a:r>
              <a:rPr lang="en-GB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lang="en-GB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nodes,</a:t>
            </a:r>
            <a:r>
              <a:rPr lang="en-GB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reducing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insider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threats</a:t>
            </a:r>
            <a:r>
              <a:rPr lang="en-GB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lang="en-GB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reliable,</a:t>
            </a:r>
            <a:r>
              <a:rPr lang="en-GB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verifiable</a:t>
            </a:r>
            <a:r>
              <a:rPr lang="en-GB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lang="en-GB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sharing.</a:t>
            </a:r>
          </a:p>
          <a:p>
            <a:pPr marL="213360" marR="6350" indent="-201295">
              <a:lnSpc>
                <a:spcPts val="1690"/>
              </a:lnSpc>
              <a:spcBef>
                <a:spcPts val="50"/>
              </a:spcBef>
              <a:buFont typeface="Arial MT"/>
              <a:buChar char="•"/>
              <a:tabLst>
                <a:tab pos="213360" algn="l"/>
              </a:tabLst>
            </a:pPr>
            <a:endParaRPr lang="en-GB" sz="2400" dirty="0">
              <a:latin typeface="Times New Roman" panose="02020603050405020304"/>
              <a:cs typeface="Times New Roman" panose="02020603050405020304"/>
            </a:endParaRPr>
          </a:p>
          <a:p>
            <a:pPr marL="213360" indent="-200660">
              <a:lnSpc>
                <a:spcPts val="1625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400" b="1" dirty="0">
                <a:latin typeface="Times New Roman" panose="02020603050405020304"/>
                <a:cs typeface="Times New Roman" panose="02020603050405020304"/>
              </a:rPr>
              <a:t>Federated</a:t>
            </a:r>
            <a:r>
              <a:rPr lang="en-GB" sz="2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400" b="1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lang="en-GB" sz="2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400" b="1" spc="-6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GB" sz="2400" dirty="0">
              <a:latin typeface="Times New Roman" panose="02020603050405020304"/>
              <a:cs typeface="Times New Roman" panose="02020603050405020304"/>
            </a:endParaRPr>
          </a:p>
          <a:p>
            <a:pPr marL="213360" marR="5080" indent="-20129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Trains</a:t>
            </a:r>
            <a:r>
              <a:rPr lang="en-GB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lang="en-GB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locally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IoT</a:t>
            </a:r>
            <a:r>
              <a:rPr lang="en-GB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lang="en-GB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raw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patient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never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leaves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source,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strengthening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still</a:t>
            </a:r>
            <a:r>
              <a:rPr lang="en-GB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contributing</a:t>
            </a:r>
            <a:r>
              <a:rPr lang="en-GB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to a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global</a:t>
            </a:r>
            <a:r>
              <a:rPr lang="en-GB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model.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pPr marL="213360" marR="5080" indent="-201295">
              <a:lnSpc>
                <a:spcPts val="1690"/>
              </a:lnSpc>
              <a:spcBef>
                <a:spcPts val="5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lang="en-GB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avoids</a:t>
            </a:r>
            <a:r>
              <a:rPr lang="en-GB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lang="en-GB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points</a:t>
            </a:r>
            <a:r>
              <a:rPr lang="en-GB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GB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failure,</a:t>
            </a:r>
            <a:r>
              <a:rPr lang="en-GB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lang="en-GB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lang="en-GB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collaboration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among many</a:t>
            </a:r>
            <a:r>
              <a:rPr lang="en-GB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heterogeneous</a:t>
            </a:r>
            <a:r>
              <a:rPr lang="en-GB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healthcare</a:t>
            </a:r>
            <a:r>
              <a:rPr lang="en-GB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devices.</a:t>
            </a:r>
          </a:p>
          <a:p>
            <a:pPr marL="12065" marR="5080">
              <a:lnSpc>
                <a:spcPts val="1690"/>
              </a:lnSpc>
              <a:spcBef>
                <a:spcPts val="50"/>
              </a:spcBef>
              <a:tabLst>
                <a:tab pos="213360" algn="l"/>
              </a:tabLst>
            </a:pP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pPr marL="213360" indent="-200660">
              <a:lnSpc>
                <a:spcPts val="1625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400" b="1" dirty="0">
                <a:latin typeface="Times New Roman" panose="02020603050405020304"/>
                <a:cs typeface="Times New Roman" panose="02020603050405020304"/>
              </a:rPr>
              <a:t>Differential</a:t>
            </a:r>
            <a:r>
              <a:rPr lang="en-GB" sz="24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400" b="1" spc="-10" dirty="0">
                <a:latin typeface="Times New Roman" panose="02020603050405020304"/>
                <a:cs typeface="Times New Roman" panose="02020603050405020304"/>
              </a:rPr>
              <a:t>Privacy:</a:t>
            </a:r>
            <a:endParaRPr lang="en-GB" sz="2400" dirty="0">
              <a:latin typeface="Times New Roman" panose="02020603050405020304"/>
              <a:cs typeface="Times New Roman" panose="02020603050405020304"/>
            </a:endParaRPr>
          </a:p>
          <a:p>
            <a:pPr marL="213360" marR="5080" indent="-20129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Adds</a:t>
            </a:r>
            <a:r>
              <a:rPr lang="en-GB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carefully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calibrated</a:t>
            </a:r>
            <a:r>
              <a:rPr lang="en-GB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noise to</a:t>
            </a:r>
            <a:r>
              <a:rPr lang="en-GB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lang="en-GB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lang="en-GB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lang="en-GB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lang="en-GB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individual</a:t>
            </a:r>
            <a:r>
              <a:rPr lang="en-GB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patient</a:t>
            </a:r>
            <a:r>
              <a:rPr lang="en-GB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record</a:t>
            </a:r>
            <a:r>
              <a:rPr lang="en-GB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lang="en-GB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reverse-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engineered,</a:t>
            </a:r>
            <a:r>
              <a:rPr lang="en-GB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even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during</a:t>
            </a:r>
            <a:r>
              <a:rPr lang="en-GB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adversarial</a:t>
            </a:r>
            <a:r>
              <a:rPr lang="en-GB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attacks.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pPr marL="213360" marR="5080" indent="-201295">
              <a:lnSpc>
                <a:spcPts val="1690"/>
              </a:lnSpc>
              <a:spcBef>
                <a:spcPts val="5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dirty="0">
                <a:latin typeface="Times New Roman" panose="02020603050405020304"/>
                <a:cs typeface="Times New Roman" panose="02020603050405020304"/>
              </a:rPr>
              <a:t>Protects</a:t>
            </a:r>
            <a:r>
              <a:rPr lang="en-GB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sensitive</a:t>
            </a:r>
            <a:r>
              <a:rPr lang="en-GB" spc="8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health</a:t>
            </a:r>
            <a:r>
              <a:rPr lang="en-GB" spc="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lang="en-GB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lang="en-GB" spc="8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maintaining</a:t>
            </a:r>
            <a:r>
              <a:rPr lang="en-GB" spc="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lang="en-GB" spc="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lang="en-GB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accuracy,</a:t>
            </a:r>
            <a:r>
              <a:rPr lang="en-GB" spc="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making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federated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lang="en-GB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safer</a:t>
            </a:r>
            <a:r>
              <a:rPr lang="en-GB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 large-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scale</a:t>
            </a:r>
            <a:r>
              <a:rPr lang="en-GB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healthcare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dirty="0">
                <a:latin typeface="Times New Roman" panose="02020603050405020304"/>
                <a:cs typeface="Times New Roman" panose="02020603050405020304"/>
              </a:rPr>
              <a:t>IoT</a:t>
            </a:r>
            <a:r>
              <a:rPr lang="en-GB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pc="-10" dirty="0">
                <a:latin typeface="Times New Roman" panose="02020603050405020304"/>
                <a:cs typeface="Times New Roman" panose="02020603050405020304"/>
              </a:rPr>
              <a:t>systems.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079289"/>
              </p:ext>
            </p:extLst>
          </p:nvPr>
        </p:nvGraphicFramePr>
        <p:xfrm>
          <a:off x="381000" y="1052194"/>
          <a:ext cx="11429999" cy="5265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2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3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9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337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4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blockchain based federated deep learning model for secured data transmission in healthcare IoT networks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Ganapathy et al., 2024, </a:t>
                      </a:r>
                      <a:r>
                        <a:rPr lang="en-IN" sz="13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Measurement: Sensors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hlinkClick r:id="rId2"/>
                        </a:rPr>
                        <a:t>https://doi.org/10.1016/j.measen.2024.101176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BLSTM, Federated Learning, Blockchain (PoW), Smart Contracts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Achieved 97.16% accuracy in normal class, used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-IoT dataset; ensured secure decentralized FL using blockchain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High computational cost, lacks lightweight optimization, no differential privacy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0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secure data transmission framework for IoT enabled healthcare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Sohail Saif et al., 2024, </a:t>
                      </a:r>
                      <a:r>
                        <a:rPr lang="en-IN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Heliyon</a:t>
                      </a: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(Elsevier)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hlinkClick r:id="rId3"/>
                        </a:rPr>
                        <a:t>https://doi.org/10.1016/j.heliyon.2024.e36269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Timestamp-based Secret Key Generation (T-SKG), DES (ECB, CBC, CTR) modes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SKG-based encryption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64-bit hex keys, ensuring 99.97% PDR, 8.83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delay, and strong resistance to guessing and brute-force attacks.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 blockchain or federated learning used; DES has known vulnerabilities; synchronization dependency between sender &amp; receiver clocks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Secure Data Delivery in a Software-Defined Wireless Body Area Network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M. S. Obaidat et al., 2022, </a:t>
                      </a:r>
                      <a:r>
                        <a:rPr lang="da-DK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Sensors (MDPI)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hlinkClick r:id="rId4"/>
                        </a:rPr>
                        <a:t>https://jtit.pl/jtit/article/view/1491/1340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SDN architecture, Trust Management Scheme (TMS), EAP-AKA, AES encryption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</a:t>
                      </a: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SDN-based security in WBAN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improved reliability, low delay, and strong encryption using </a:t>
                      </a: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and EAP-AKA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 blockchain or AI used; focused only on SDN + WBAN; no real-time deployment tested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67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HIIDS: Hybrid Intelligent Intrusion Detection System Empowered with ML and Metaheuristic Algorithms for IoT-Based Healthcare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Sohail Saif et al., 2022, </a:t>
                      </a: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Microprocessors and Microsystems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hlinkClick r:id="rId5"/>
                        </a:rPr>
                        <a:t>https://doi.org/10.1016/j.micpro.2022.104622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GA-DT, GA-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kNN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PSO-DT, PSO-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kNN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DE-DT, DE-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kNN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GA-DT achieved 99.88% accuracy; minimal features (8–10) used; improved memory and execution time; applicable to IoT-healthcare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 real-time deployment; only NSL-KDD dataset used; blockchain not considered; lacks network-side validation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Blockchain Technology in Healthcare: A Systematic Review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Cornelius C. Agbo et al., 2019, Healthcare (MDPI)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hlinkClick r:id="rId6"/>
                        </a:rPr>
                        <a:t>https://doi.org/10.3390/healthcare7020056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Literature Review – no specific algorithms implemented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Identified use cases in EMR, remote patient monitoring, drug supply chain; highlighted lack of implementations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Insufficient prototype applications; need for rigorous validation and real-world implementation studies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FF14-77B6-4437-2943-B8E1C027E2DD}"/>
              </a:ext>
            </a:extLst>
          </p:cNvPr>
          <p:cNvSpPr txBox="1"/>
          <p:nvPr/>
        </p:nvSpPr>
        <p:spPr>
          <a:xfrm>
            <a:off x="615433" y="1146785"/>
            <a:ext cx="108172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Research Gap in Paper 1:</a:t>
            </a:r>
            <a:br>
              <a:rPr lang="en-US" sz="2100" dirty="0"/>
            </a:br>
            <a:r>
              <a:rPr lang="en-GB" b="1" dirty="0"/>
              <a:t>High computational cost, lacks lightweight optimization, no differential </a:t>
            </a:r>
            <a:r>
              <a:rPr lang="en-GB" b="1" dirty="0" err="1"/>
              <a:t>privacy</a:t>
            </a:r>
            <a:r>
              <a:rPr lang="en-GB" dirty="0" err="1"/>
              <a:t>.lightweight</a:t>
            </a:r>
            <a:r>
              <a:rPr lang="en-GB" dirty="0"/>
              <a:t> deep-learning models and proper privacy protection, making it too slow and insecure for IoT devices.</a:t>
            </a:r>
          </a:p>
          <a:p>
            <a:pPr marL="457200" indent="-457200">
              <a:buFontTx/>
              <a:buAutoNum type="arabicPeriod"/>
            </a:pPr>
            <a:r>
              <a:rPr lang="en-IN" sz="2400" b="1" dirty="0"/>
              <a:t>Research Gap in Paper 2:</a:t>
            </a:r>
            <a:br>
              <a:rPr lang="en-US" sz="2100" dirty="0"/>
            </a:br>
            <a:r>
              <a:rPr lang="en-GB" b="1" dirty="0"/>
              <a:t>No blockchain or federated learning; DES is weak; relies on synchronized </a:t>
            </a:r>
            <a:r>
              <a:rPr lang="en-GB" b="1" dirty="0" err="1"/>
              <a:t>clocks</a:t>
            </a:r>
            <a:r>
              <a:rPr lang="en-GB" dirty="0" err="1"/>
              <a:t>.blockchain</a:t>
            </a:r>
            <a:r>
              <a:rPr lang="en-GB" dirty="0"/>
              <a:t> and federated learning and still depends on weak DES encryption, which reduces security and reliability.</a:t>
            </a:r>
            <a:endParaRPr lang="en-US" dirty="0"/>
          </a:p>
          <a:p>
            <a:pPr marL="457200" indent="-457200">
              <a:buAutoNum type="arabicPeriod"/>
            </a:pPr>
            <a:r>
              <a:rPr lang="en-IN" sz="2400" b="1" dirty="0"/>
              <a:t>Research Gap in Paper 3:</a:t>
            </a:r>
            <a:br>
              <a:rPr lang="en-US" sz="2100" dirty="0"/>
            </a:br>
            <a:r>
              <a:rPr lang="en-GB" b="1" dirty="0"/>
              <a:t>No blockchain or AI; only SDN+WBAN; no real-time testing</a:t>
            </a:r>
            <a:r>
              <a:rPr lang="en-GB" dirty="0"/>
              <a:t>.AI-based detection and blockchain support and is not tested in real-time healthcare IoT environments.</a:t>
            </a:r>
          </a:p>
          <a:p>
            <a:pPr marL="457200" indent="-457200">
              <a:buAutoNum type="arabicPeriod"/>
            </a:pPr>
            <a:r>
              <a:rPr lang="en-IN" sz="2400" b="1" dirty="0"/>
              <a:t>Research Gap in Paper 4:</a:t>
            </a:r>
            <a:br>
              <a:rPr lang="en-US" sz="2100" dirty="0"/>
            </a:br>
            <a:r>
              <a:rPr lang="en-GB" b="1" dirty="0"/>
              <a:t>No real-time deployment; uses only NSL-KDD; no blockchain; limited </a:t>
            </a:r>
            <a:r>
              <a:rPr lang="en-GB" b="1" dirty="0" err="1"/>
              <a:t>featureoptimization</a:t>
            </a:r>
            <a:r>
              <a:rPr lang="en-GB" dirty="0"/>
              <a:t>. modern datasets, blockchain integration, and efficient models, so it cannot be deployed in real IoT healthcare systems.</a:t>
            </a:r>
          </a:p>
          <a:p>
            <a:pPr marL="457200" indent="-457200">
              <a:buAutoNum type="arabicPeriod"/>
            </a:pPr>
            <a:r>
              <a:rPr lang="en-IN" sz="2400" b="1" dirty="0"/>
              <a:t>Research Gap in Paper 5:</a:t>
            </a:r>
            <a:br>
              <a:rPr lang="en-US" sz="2100" dirty="0"/>
            </a:br>
            <a:r>
              <a:rPr lang="en-IN" b="1" dirty="0"/>
              <a:t>Only a review, no implementation, no experiments, no algorithms</a:t>
            </a:r>
            <a:r>
              <a:rPr lang="en-IN" dirty="0"/>
              <a:t>.</a:t>
            </a:r>
            <a:r>
              <a:rPr lang="en-GB" dirty="0"/>
              <a:t>practical implementation, algorithms, and experimental validation, offering only theoretical discussion without proof.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0834" y="1239366"/>
            <a:ext cx="11266424" cy="530145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GB" sz="2400" b="1" dirty="0"/>
              <a:t>1. Research Gap Problem:</a:t>
            </a:r>
          </a:p>
          <a:p>
            <a:r>
              <a:rPr lang="en-GB" sz="2100" dirty="0"/>
              <a:t>Existing work uses heavy models and has no strong privacy protection, so IoT devices struggle to process data safely.</a:t>
            </a:r>
          </a:p>
          <a:p>
            <a:r>
              <a:rPr lang="en-GB" sz="2400" b="1" dirty="0"/>
              <a:t>Solution:</a:t>
            </a:r>
            <a:br>
              <a:rPr lang="en-GB" sz="1000" dirty="0"/>
            </a:br>
            <a:r>
              <a:rPr lang="en-GB" sz="2100" dirty="0"/>
              <a:t>You use lightweight models (</a:t>
            </a:r>
            <a:r>
              <a:rPr lang="en-GB" sz="2100" dirty="0" err="1"/>
              <a:t>MobileNet</a:t>
            </a:r>
            <a:r>
              <a:rPr lang="en-GB" sz="2100" dirty="0"/>
              <a:t>/</a:t>
            </a:r>
            <a:r>
              <a:rPr lang="en-GB" sz="2100" dirty="0" err="1"/>
              <a:t>EfficientNet</a:t>
            </a:r>
            <a:r>
              <a:rPr lang="en-GB" sz="2100" dirty="0"/>
              <a:t>) and differential privacy, making the system fast, efficient, and secure for IoT healthcare.</a:t>
            </a:r>
          </a:p>
          <a:p>
            <a:endParaRPr lang="en-GB" sz="2400" dirty="0"/>
          </a:p>
          <a:p>
            <a:r>
              <a:rPr lang="en-GB" sz="2400" b="1" dirty="0"/>
              <a:t>2. Research Gap Problem:</a:t>
            </a:r>
          </a:p>
          <a:p>
            <a:r>
              <a:rPr lang="en-GB" sz="2100" dirty="0"/>
              <a:t>Existing work lacks blockchain and federated learning, and relies on weak DES encryption, which reduces trust and security.</a:t>
            </a:r>
          </a:p>
          <a:p>
            <a:r>
              <a:rPr lang="en-GB" sz="2400" b="1" dirty="0"/>
              <a:t>Solution:</a:t>
            </a:r>
            <a:br>
              <a:rPr lang="en-GB" sz="1000" dirty="0"/>
            </a:br>
            <a:r>
              <a:rPr lang="en-GB" sz="2100" dirty="0"/>
              <a:t>You add blockchain with </a:t>
            </a:r>
            <a:r>
              <a:rPr lang="en-GB" sz="2100" dirty="0" err="1"/>
              <a:t>PoS</a:t>
            </a:r>
            <a:r>
              <a:rPr lang="en-GB" sz="2100" dirty="0"/>
              <a:t> and federated learning, replacing DES with strong cryptographic protection and secure decentralized training.</a:t>
            </a:r>
          </a:p>
          <a:p>
            <a:br>
              <a:rPr lang="en-GB" sz="1000" dirty="0"/>
            </a:br>
            <a:endParaRPr lang="en-GB" sz="1000" dirty="0"/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092C3-5568-9CD0-388A-0D9F0A94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55EF95-6841-7980-6DEF-4A1479022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PROBLEM</a:t>
            </a:r>
            <a:r>
              <a:rPr lang="en-IN" spc="-170" dirty="0"/>
              <a:t> </a:t>
            </a:r>
            <a:r>
              <a:rPr lang="en-IN" spc="-50" dirty="0"/>
              <a:t>STATEMENT</a:t>
            </a:r>
            <a:endParaRPr spc="-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224D17-E2C9-D9AE-9775-64D428ABF01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0D31918-6F16-7177-26C8-A6021A39AAFB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2D4BEBB-61C8-564C-8C52-C9891A7F14F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BF579F-A1E9-D5FF-59D4-2D49BA4EA6A6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EB2E3B0-2988-D6E6-7754-425F5FC453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99A1A4F-84F0-8FC0-48C2-CFA80E02CFCE}"/>
              </a:ext>
            </a:extLst>
          </p:cNvPr>
          <p:cNvSpPr txBox="1"/>
          <p:nvPr/>
        </p:nvSpPr>
        <p:spPr>
          <a:xfrm>
            <a:off x="723899" y="1295400"/>
            <a:ext cx="10744200" cy="11156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B11ADB-FCA2-1AAA-273E-8E74D09F29F7}"/>
              </a:ext>
            </a:extLst>
          </p:cNvPr>
          <p:cNvSpPr txBox="1"/>
          <p:nvPr/>
        </p:nvSpPr>
        <p:spPr>
          <a:xfrm>
            <a:off x="402334" y="1143000"/>
            <a:ext cx="117896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3. Research Gap Problem</a:t>
            </a:r>
          </a:p>
          <a:p>
            <a:r>
              <a:rPr lang="en-GB" sz="2100" dirty="0"/>
              <a:t>Existing work has no AI-based attack detection or blockchain support and isn’t tested in real healthcare IoT environments.</a:t>
            </a:r>
          </a:p>
          <a:p>
            <a:r>
              <a:rPr lang="en-GB" sz="2400" b="1" dirty="0"/>
              <a:t>Solution:</a:t>
            </a:r>
            <a:br>
              <a:rPr lang="en-GB" sz="2400" dirty="0"/>
            </a:br>
            <a:r>
              <a:rPr lang="en-GB" sz="2100" dirty="0"/>
              <a:t>You integrate AI models with GAN-based attack detection and use blockchain for tamper-proof updates, validating everything on real medical datasets.</a:t>
            </a:r>
          </a:p>
          <a:p>
            <a:endParaRPr lang="en-GB" sz="2400" dirty="0"/>
          </a:p>
          <a:p>
            <a:r>
              <a:rPr lang="en-GB" sz="2400" b="1" dirty="0"/>
              <a:t>4. Research Gap Problem</a:t>
            </a:r>
          </a:p>
          <a:p>
            <a:r>
              <a:rPr lang="en-GB" sz="2100" dirty="0"/>
              <a:t>Existing work uses outdated datasets, lacks blockchain security, and depends on heavy algorithms, making real deployment impossible.</a:t>
            </a:r>
          </a:p>
          <a:p>
            <a:r>
              <a:rPr lang="en-GB" sz="2400" b="1" dirty="0"/>
              <a:t>Solution:</a:t>
            </a:r>
            <a:br>
              <a:rPr lang="en-GB" sz="2400" dirty="0"/>
            </a:br>
            <a:r>
              <a:rPr lang="en-GB" sz="2100" dirty="0"/>
              <a:t>You use real IoT healthcare datasets, lightweight deep-learning models, and blockchain to create a fast, scalable, real-world-ready system.</a:t>
            </a:r>
          </a:p>
          <a:p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9455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699A-C464-D8E3-FBA1-38A161BA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C3DEDB-D338-6409-E5DB-B2601298C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PROBLEM</a:t>
            </a:r>
            <a:r>
              <a:rPr lang="en-IN" spc="-170" dirty="0"/>
              <a:t> </a:t>
            </a:r>
            <a:r>
              <a:rPr lang="en-IN" spc="-50" dirty="0"/>
              <a:t>STATEMENT</a:t>
            </a:r>
            <a:endParaRPr spc="-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4040DCA-EED2-DA82-412E-DC86124B0A9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2229F7B-B733-A08D-36A0-F79A2286D5A8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5DBB158-D349-1D62-7430-B197EB15329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34180B8-330F-4ABC-22D0-5937365D2096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92C753C-91C2-4B31-23A0-EFD667C4BA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7FDF5A-663A-C8C1-872A-73300AF9591D}"/>
              </a:ext>
            </a:extLst>
          </p:cNvPr>
          <p:cNvSpPr txBox="1"/>
          <p:nvPr/>
        </p:nvSpPr>
        <p:spPr>
          <a:xfrm>
            <a:off x="723899" y="1295400"/>
            <a:ext cx="10744200" cy="11156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FF7F9-24C2-9482-C440-240FD80B6168}"/>
              </a:ext>
            </a:extLst>
          </p:cNvPr>
          <p:cNvSpPr txBox="1"/>
          <p:nvPr/>
        </p:nvSpPr>
        <p:spPr>
          <a:xfrm>
            <a:off x="402334" y="1143000"/>
            <a:ext cx="11789665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5. Research Gap Problem:</a:t>
            </a:r>
          </a:p>
          <a:p>
            <a:r>
              <a:rPr lang="en-GB" sz="2100" dirty="0"/>
              <a:t>Existing work is only theoretical with no implementation, algorithms, or experimental proof.</a:t>
            </a:r>
          </a:p>
          <a:p>
            <a:r>
              <a:rPr lang="en-GB" sz="2400" b="1" dirty="0"/>
              <a:t>Solution:</a:t>
            </a:r>
            <a:br>
              <a:rPr lang="en-GB" sz="2400" dirty="0"/>
            </a:br>
            <a:r>
              <a:rPr lang="en-GB" sz="2100" dirty="0"/>
              <a:t>You build a complete working system using FL, blockchain, </a:t>
            </a:r>
            <a:r>
              <a:rPr lang="en-GB" sz="2100" dirty="0" err="1"/>
              <a:t>PoS</a:t>
            </a:r>
            <a:r>
              <a:rPr lang="en-GB" sz="2100" dirty="0"/>
              <a:t>, DP, and lightweight models, proving its performance with 98% accuracy.</a:t>
            </a:r>
          </a:p>
          <a:p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1117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143000"/>
            <a:ext cx="10887456" cy="533222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/>
              <a:t>Main 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Blockchain-Enabled Federated Deep Learning (LB-FDL)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Privacy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and privacy-preserving healthcare IoT systems.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 marL="213360" marR="553720" indent="-2012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Protect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patient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sending</a:t>
            </a:r>
            <a:r>
              <a:rPr lang="en-GB" sz="2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lang="en-GB"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healthcare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IoT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networks.</a:t>
            </a:r>
          </a:p>
          <a:p>
            <a:pPr marL="12065" marR="553720">
              <a:lnSpc>
                <a:spcPct val="100000"/>
              </a:lnSpc>
              <a:spcBef>
                <a:spcPts val="105"/>
              </a:spcBef>
              <a:tabLst>
                <a:tab pos="213360" algn="l"/>
              </a:tabLst>
            </a:pP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marL="213360" marR="153670" indent="-20129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Train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distributed</a:t>
            </a:r>
            <a:r>
              <a:rPr lang="en-GB" sz="21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way using</a:t>
            </a:r>
            <a:r>
              <a:rPr lang="en-GB"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federated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lang="en-GB" sz="2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raw</a:t>
            </a:r>
            <a:r>
              <a:rPr lang="en-GB"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data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stays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lang="en-GB"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devices.</a:t>
            </a:r>
          </a:p>
          <a:p>
            <a:pPr marL="12065" marR="153670">
              <a:lnSpc>
                <a:spcPct val="100000"/>
              </a:lnSpc>
              <a:spcBef>
                <a:spcPts val="10"/>
              </a:spcBef>
              <a:tabLst>
                <a:tab pos="213360" algn="l"/>
              </a:tabLst>
            </a:pP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marL="213360" marR="120650" indent="-20129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blockchain</a:t>
            </a:r>
            <a:r>
              <a:rPr lang="en-GB"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 err="1">
                <a:latin typeface="Times New Roman" panose="02020603050405020304"/>
                <a:cs typeface="Times New Roman" panose="02020603050405020304"/>
              </a:rPr>
              <a:t>PoS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GB"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keep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lang="en-GB"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tamper-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proof,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traceable,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secure.</a:t>
            </a:r>
          </a:p>
          <a:p>
            <a:pPr marL="12065" marR="120650">
              <a:lnSpc>
                <a:spcPct val="100000"/>
              </a:lnSpc>
              <a:spcBef>
                <a:spcPts val="10"/>
              </a:spcBef>
              <a:tabLst>
                <a:tab pos="213360" algn="l"/>
              </a:tabLst>
            </a:pP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marL="213360" marR="5080" indent="-201295">
              <a:lnSpc>
                <a:spcPts val="1690"/>
              </a:lnSpc>
              <a:spcBef>
                <a:spcPts val="50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differential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lang="en-GB" sz="21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so that</a:t>
            </a:r>
            <a:r>
              <a:rPr lang="en-GB"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even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shared</a:t>
            </a:r>
            <a:r>
              <a:rPr lang="en-GB" sz="2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reveal</a:t>
            </a:r>
            <a:r>
              <a:rPr lang="en-GB"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any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single</a:t>
            </a:r>
          </a:p>
          <a:p>
            <a:pPr marL="12065" marR="5080">
              <a:lnSpc>
                <a:spcPts val="1690"/>
              </a:lnSpc>
              <a:spcBef>
                <a:spcPts val="50"/>
              </a:spcBef>
              <a:tabLst>
                <a:tab pos="213360" algn="l"/>
              </a:tabLst>
            </a:pP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patient’s</a:t>
            </a:r>
            <a:r>
              <a:rPr lang="en-GB"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data.</a:t>
            </a:r>
          </a:p>
          <a:p>
            <a:pPr marL="12065" marR="5080">
              <a:lnSpc>
                <a:spcPts val="1690"/>
              </a:lnSpc>
              <a:spcBef>
                <a:spcPts val="50"/>
              </a:spcBef>
              <a:tabLst>
                <a:tab pos="213360" algn="l"/>
              </a:tabLst>
            </a:pP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marL="213360" indent="-200660">
              <a:lnSpc>
                <a:spcPts val="1625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lang="en-GB" sz="21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lightweight deep</a:t>
            </a:r>
            <a:r>
              <a:rPr lang="en-GB"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lang="en-GB"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(like</a:t>
            </a:r>
            <a:r>
              <a:rPr lang="en-GB" sz="21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 err="1">
                <a:latin typeface="Times New Roman" panose="02020603050405020304"/>
                <a:cs typeface="Times New Roman" panose="02020603050405020304"/>
              </a:rPr>
              <a:t>MobileNet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en-GB" sz="2100" spc="-10" dirty="0" err="1">
                <a:latin typeface="Times New Roman" panose="02020603050405020304"/>
                <a:cs typeface="Times New Roman" panose="02020603050405020304"/>
              </a:rPr>
              <a:t>EfficientNet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GB" sz="2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GB" sz="21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reduce</a:t>
            </a: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marL="213360" marR="254635">
              <a:lnSpc>
                <a:spcPct val="100000"/>
              </a:lnSpc>
              <a:spcBef>
                <a:spcPts val="10"/>
              </a:spcBef>
            </a:pP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computation,</a:t>
            </a:r>
            <a:r>
              <a:rPr lang="en-GB" sz="21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speed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training,</a:t>
            </a:r>
            <a:r>
              <a:rPr lang="en-GB" sz="21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GB"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cut</a:t>
            </a:r>
            <a:r>
              <a:rPr lang="en-GB" sz="21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communication</a:t>
            </a:r>
            <a:r>
              <a:rPr lang="en-GB"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compared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2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lang="en-GB" sz="2100" dirty="0">
                <a:latin typeface="Times New Roman" panose="02020603050405020304"/>
                <a:cs typeface="Times New Roman" panose="02020603050405020304"/>
              </a:rPr>
              <a:t>older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 BFL-</a:t>
            </a:r>
            <a:r>
              <a:rPr lang="en-GB" sz="2100" dirty="0" err="1">
                <a:latin typeface="Times New Roman" panose="02020603050405020304"/>
                <a:cs typeface="Times New Roman" panose="02020603050405020304"/>
              </a:rPr>
              <a:t>hIoT</a:t>
            </a:r>
            <a:r>
              <a:rPr lang="en-GB" sz="21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2100" spc="-10" dirty="0">
                <a:latin typeface="Times New Roman" panose="02020603050405020304"/>
                <a:cs typeface="Times New Roman" panose="02020603050405020304"/>
              </a:rPr>
              <a:t>models.</a:t>
            </a:r>
            <a:endParaRPr lang="en-GB" sz="2100" dirty="0"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ABA1B1-8014-BAE6-E5DA-53457C671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944" y="1818843"/>
            <a:ext cx="5386928" cy="32203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D90E9D-C70D-659A-E0CF-F42E691E26D4}"/>
              </a:ext>
            </a:extLst>
          </p:cNvPr>
          <p:cNvSpPr txBox="1"/>
          <p:nvPr/>
        </p:nvSpPr>
        <p:spPr>
          <a:xfrm>
            <a:off x="609600" y="1924485"/>
            <a:ext cx="6097002" cy="345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lang="en-GB" sz="1800" b="1" dirty="0">
                <a:latin typeface="Calibri" panose="020F0502020204030204"/>
                <a:cs typeface="Calibri" panose="020F0502020204030204"/>
              </a:rPr>
              <a:t>Collect</a:t>
            </a:r>
            <a:r>
              <a:rPr lang="en-GB"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lang="en-GB"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on</a:t>
            </a:r>
            <a:r>
              <a:rPr lang="en-GB"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devices</a:t>
            </a:r>
            <a:r>
              <a:rPr lang="en-GB"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 err="1">
                <a:latin typeface="Calibri" panose="020F0502020204030204"/>
                <a:cs typeface="Calibri" panose="020F0502020204030204"/>
              </a:rPr>
              <a:t>hIoT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sensors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wearables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collect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patient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data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keep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it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locally.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 marR="74930">
              <a:lnSpc>
                <a:spcPct val="100000"/>
              </a:lnSpc>
            </a:pPr>
            <a:r>
              <a:rPr lang="en-GB" sz="1800" b="1" spc="-20" dirty="0">
                <a:latin typeface="Calibri" panose="020F0502020204030204"/>
                <a:cs typeface="Calibri" panose="020F0502020204030204"/>
              </a:rPr>
              <a:t>Train</a:t>
            </a:r>
            <a:r>
              <a:rPr lang="en-GB"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locally</a:t>
            </a:r>
            <a:r>
              <a:rPr lang="en-GB"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each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device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trains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small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deep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learning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model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its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own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data;</a:t>
            </a:r>
            <a:r>
              <a:rPr lang="en-GB"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raw</a:t>
            </a:r>
            <a:r>
              <a:rPr lang="en-GB"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lang="en-GB"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goes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cloud.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 marR="414020">
              <a:lnSpc>
                <a:spcPct val="100000"/>
              </a:lnSpc>
              <a:spcBef>
                <a:spcPts val="15"/>
              </a:spcBef>
            </a:pPr>
            <a:r>
              <a:rPr lang="en-GB" sz="1800" b="1" dirty="0">
                <a:latin typeface="Calibri" panose="020F0502020204030204"/>
                <a:cs typeface="Calibri" panose="020F0502020204030204"/>
              </a:rPr>
              <a:t>Add</a:t>
            </a:r>
            <a:r>
              <a:rPr lang="en-GB"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privacy</a:t>
            </a:r>
            <a:r>
              <a:rPr lang="en-GB"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random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noise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added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model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updates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so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single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patient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identified.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 marR="140335">
              <a:lnSpc>
                <a:spcPct val="100000"/>
              </a:lnSpc>
              <a:spcBef>
                <a:spcPts val="10"/>
              </a:spcBef>
            </a:pPr>
            <a:r>
              <a:rPr lang="en-GB" sz="1800" b="1" dirty="0">
                <a:latin typeface="Calibri" panose="020F0502020204030204"/>
                <a:cs typeface="Calibri" panose="020F0502020204030204"/>
              </a:rPr>
              <a:t>Send</a:t>
            </a:r>
            <a:r>
              <a:rPr lang="en-GB"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via</a:t>
            </a:r>
            <a:r>
              <a:rPr lang="en-GB"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spc="-10" dirty="0">
                <a:latin typeface="Calibri" panose="020F0502020204030204"/>
                <a:cs typeface="Calibri" panose="020F0502020204030204"/>
              </a:rPr>
              <a:t>blockchain</a:t>
            </a:r>
            <a:r>
              <a:rPr lang="en-GB"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encrypted,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signed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updates</a:t>
            </a:r>
            <a:r>
              <a:rPr lang="en-GB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sent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blockchain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where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smart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contracts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verify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them.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 marR="231140">
              <a:lnSpc>
                <a:spcPts val="1690"/>
              </a:lnSpc>
              <a:spcBef>
                <a:spcPts val="50"/>
              </a:spcBef>
            </a:pPr>
            <a:r>
              <a:rPr lang="en-GB" sz="1800" b="1" dirty="0">
                <a:latin typeface="Calibri" panose="020F0502020204030204"/>
                <a:cs typeface="Calibri" panose="020F0502020204030204"/>
              </a:rPr>
              <a:t>Build</a:t>
            </a:r>
            <a:r>
              <a:rPr lang="en-GB"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global</a:t>
            </a:r>
            <a:r>
              <a:rPr lang="en-GB"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model</a:t>
            </a:r>
            <a:r>
              <a:rPr lang="en-GB"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server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combines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valid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updates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into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one</a:t>
            </a:r>
            <a:r>
              <a:rPr lang="en-GB"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global model.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625"/>
              </a:lnSpc>
            </a:pPr>
            <a:r>
              <a:rPr lang="en-GB" sz="1800" b="1" dirty="0">
                <a:latin typeface="Calibri" panose="020F0502020204030204"/>
                <a:cs typeface="Calibri" panose="020F0502020204030204"/>
              </a:rPr>
              <a:t>Repeat</a:t>
            </a:r>
            <a:r>
              <a:rPr lang="en-GB"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in</a:t>
            </a:r>
            <a:r>
              <a:rPr lang="en-GB"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b="1" dirty="0">
                <a:latin typeface="Calibri" panose="020F0502020204030204"/>
                <a:cs typeface="Calibri" panose="020F0502020204030204"/>
              </a:rPr>
              <a:t>rounds</a:t>
            </a:r>
            <a:r>
              <a:rPr lang="en-GB"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training,</a:t>
            </a:r>
            <a:r>
              <a:rPr lang="en-GB"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protecting,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sending,</a:t>
            </a:r>
            <a:r>
              <a:rPr lang="en-GB"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aggregating</a:t>
            </a:r>
            <a:r>
              <a:rPr lang="en-GB"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repeat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GB" sz="1800" dirty="0">
                <a:latin typeface="Calibri" panose="020F0502020204030204"/>
                <a:cs typeface="Calibri" panose="020F0502020204030204"/>
              </a:rPr>
              <a:t>until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lang="en-GB"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model</a:t>
            </a:r>
            <a:r>
              <a:rPr lang="en-GB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lang="en-GB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1800" spc="-10" dirty="0">
                <a:latin typeface="Calibri" panose="020F0502020204030204"/>
                <a:cs typeface="Calibri" panose="020F0502020204030204"/>
              </a:rPr>
              <a:t>accurate</a:t>
            </a:r>
            <a:endParaRPr lang="en-GB"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9983" y="1429148"/>
            <a:ext cx="5349186" cy="18004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60960" rIns="0" bIns="0" rtlCol="0">
            <a:spAutoFit/>
          </a:bodyPr>
          <a:lstStyle/>
          <a:p>
            <a:r>
              <a:rPr lang="en-GB" sz="1600" b="1" dirty="0"/>
              <a:t>1.Preprocessing: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Remove unwanted or missing data to keep the dataset clean.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Scale and normalize values so all features are in a similar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Convert text or category-based data into numbers the model can understand.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3F00D-AAA0-57F3-BA12-2785A73740FF}"/>
              </a:ext>
            </a:extLst>
          </p:cNvPr>
          <p:cNvSpPr txBox="1"/>
          <p:nvPr/>
        </p:nvSpPr>
        <p:spPr>
          <a:xfrm>
            <a:off x="149983" y="3589378"/>
            <a:ext cx="5324224" cy="16312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GB" sz="1600" b="1" dirty="0"/>
              <a:t>Exploratory Data Analysis (EDA):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Examined </a:t>
            </a:r>
            <a:r>
              <a:rPr lang="en-GB" sz="1400" b="1" dirty="0"/>
              <a:t>the MIMIC-III, MIT-BIH, </a:t>
            </a:r>
            <a:r>
              <a:rPr lang="en-GB" sz="1400" dirty="0"/>
              <a:t>and</a:t>
            </a:r>
            <a:r>
              <a:rPr lang="en-GB" sz="1400" b="1" dirty="0"/>
              <a:t> </a:t>
            </a:r>
            <a:r>
              <a:rPr lang="en-GB" sz="1400" b="1" dirty="0" err="1"/>
              <a:t>ToN</a:t>
            </a:r>
            <a:r>
              <a:rPr lang="en-GB" sz="1400" b="1" dirty="0"/>
              <a:t>-IoT </a:t>
            </a:r>
            <a:r>
              <a:rPr lang="en-GB" sz="1400" dirty="0"/>
              <a:t>datasets to understand patterns in patient data and attack </a:t>
            </a:r>
            <a:r>
              <a:rPr lang="en-GB" sz="1400" dirty="0" err="1"/>
              <a:t>behavior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Identified and cleaned missing, duplicate, and noisy entries to ensure accurate model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Noted that heavy attack categories like </a:t>
            </a:r>
            <a:r>
              <a:rPr lang="en-GB" sz="1400" b="1" dirty="0"/>
              <a:t>DoS, Backdoor, </a:t>
            </a:r>
            <a:r>
              <a:rPr lang="en-GB" sz="1400" dirty="0"/>
              <a:t>and</a:t>
            </a:r>
            <a:r>
              <a:rPr lang="en-GB" sz="1400" b="1" dirty="0"/>
              <a:t> XSS </a:t>
            </a:r>
            <a:r>
              <a:rPr lang="en-GB" sz="1400" dirty="0"/>
              <a:t>were more common, helping the model focus on critical threats.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/>
              <p:nvPr/>
            </p:nvSpPr>
            <p:spPr>
              <a:xfrm>
                <a:off x="5970978" y="1637665"/>
                <a:ext cx="6096000" cy="12539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600" b="1" dirty="0">
                    <a:cs typeface="+mj-cs"/>
                  </a:rPr>
                  <a:t>3.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Framework</a:t>
                </a:r>
                <a:r>
                  <a:rPr lang="en-US" sz="1600" b="1" dirty="0">
                    <a:latin typeface="Times New Roman" panose="02020603050405020304" pitchFamily="18" charset="0"/>
                    <a:cs typeface="+mj-cs"/>
                  </a:rPr>
                  <a:t>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1600" dirty="0">
                    <a:cs typeface="+mj-cs"/>
                  </a:rPr>
                  <a:t>Loss Function: </a:t>
                </a:r>
                <a14:m>
                  <m:oMath xmlns:m="http://schemas.openxmlformats.org/officeDocument/2006/math">
                    <m:r>
                      <a:rPr lang="en-IN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d>
                      <m:dPr>
                        <m:sepChr m:val=","/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𝑓</m:t>
                        </m:r>
                      </m:e>
                      <m:e>
                        <m:d>
                          <m:d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𝑥</m:t>
                            </m:r>
                          </m:e>
                        </m:d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𝑦</m:t>
                        </m:r>
                      </m:e>
                    </m:d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=−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𝑝</m:t>
                            </m:r>
                          </m:e>
                          <m:sub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b>
                        </m:sSub>
                      </m:e>
                    </m:func>
                  </m:oMath>
                </a14:m>
                <a:endParaRPr lang="en-US" sz="1600" dirty="0">
                  <a:solidFill>
                    <a:schemeClr val="dk1"/>
                  </a:solidFill>
                  <a:cs typeface="+mj-cs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1600" dirty="0">
                    <a:cs typeface="+mj-cs"/>
                  </a:rPr>
                  <a:t>Accuracy: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𝑇𝑃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𝑇𝑁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𝑇𝑃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𝐹𝑃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𝑇𝑁</m:t>
                            </m:r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𝐹𝑁</m:t>
                            </m:r>
                          </m:e>
                        </m:d>
                      </m:den>
                    </m:f>
                  </m:oMath>
                </a14:m>
                <a:endParaRPr lang="en-US" sz="1600" dirty="0">
                  <a:solidFill>
                    <a:schemeClr val="dk1"/>
                  </a:solidFill>
                  <a:cs typeface="+mj-cs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sz="1600" dirty="0">
                    <a:cs typeface="+mj-cs"/>
                  </a:rPr>
                  <a:t>Aggregation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𝑀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𝐺</m:t>
                        </m:r>
                      </m:sub>
                    </m:sSub>
                    <m:r>
                      <a:rPr lang="ar-AE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ar-AE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+mj-cs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𝑀</m:t>
                            </m:r>
                          </m:e>
                          <m:sub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𝑀</m:t>
                            </m:r>
                          </m:e>
                          <m:sub>
                            <m:r>
                              <a:rPr lang="ar-AE" sz="160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16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𝑀</m:t>
                            </m:r>
                          </m:e>
                          <m:sub>
                            <m:r>
                              <a:rPr lang="ar-AE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sz="1600" b="1" dirty="0">
                  <a:latin typeface="Times New Roman" panose="020206030504050203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01180A-D05D-39E1-D4D1-69596B4D2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978" y="1637665"/>
                <a:ext cx="6096000" cy="1253998"/>
              </a:xfrm>
              <a:prstGeom prst="rect">
                <a:avLst/>
              </a:prstGeom>
              <a:blipFill>
                <a:blip r:embed="rId2"/>
                <a:stretch>
                  <a:fillRect l="-500" t="-10244" b="-34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36067A-211A-11AF-64EA-3BFD09D615C6}"/>
              </a:ext>
            </a:extLst>
          </p:cNvPr>
          <p:cNvSpPr txBox="1"/>
          <p:nvPr/>
        </p:nvSpPr>
        <p:spPr>
          <a:xfrm>
            <a:off x="5827410" y="3412175"/>
            <a:ext cx="6096000" cy="20621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600" b="1" dirty="0"/>
              <a:t>Algorithms: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Federated Learning (FL)</a:t>
            </a:r>
            <a:r>
              <a:rPr lang="en-IN" sz="1400" dirty="0"/>
              <a:t> – Trains the model on each device locally so patient data never leaves the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Proof-of-Stake (</a:t>
            </a:r>
            <a:r>
              <a:rPr lang="en-IN" sz="1400" b="1" dirty="0" err="1"/>
              <a:t>PoS</a:t>
            </a:r>
            <a:r>
              <a:rPr lang="en-IN" sz="1400" b="1" dirty="0"/>
              <a:t>) Blockchain</a:t>
            </a:r>
            <a:r>
              <a:rPr lang="en-IN" sz="1400" dirty="0"/>
              <a:t> – Verifies and stores model updates securely without heavy energy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Differential Privacy (DP)</a:t>
            </a:r>
            <a:r>
              <a:rPr lang="en-IN" sz="1400" dirty="0"/>
              <a:t> – Adds small noise to model updates to protect sensitive medical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/>
              <a:t>MobileNet</a:t>
            </a:r>
            <a:r>
              <a:rPr lang="en-IN" sz="1400" b="1" dirty="0"/>
              <a:t>/</a:t>
            </a:r>
            <a:r>
              <a:rPr lang="en-IN" sz="1400" b="1" dirty="0" err="1"/>
              <a:t>EfficientNet</a:t>
            </a:r>
            <a:r>
              <a:rPr lang="en-IN" sz="1400" b="1" dirty="0"/>
              <a:t> Models</a:t>
            </a:r>
            <a:r>
              <a:rPr lang="en-IN" sz="1400" dirty="0"/>
              <a:t> – Lightweight deep-learning models used for fast and accurate predictions on IoT devices.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45F21B-2D69-9375-E98D-04CAC3284604}"/>
              </a:ext>
            </a:extLst>
          </p:cNvPr>
          <p:cNvCxnSpPr/>
          <p:nvPr/>
        </p:nvCxnSpPr>
        <p:spPr>
          <a:xfrm>
            <a:off x="0" y="12954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9613-1AF1-C736-4D1A-CE05B2C4A661}"/>
              </a:ext>
            </a:extLst>
          </p:cNvPr>
          <p:cNvCxnSpPr/>
          <p:nvPr/>
        </p:nvCxnSpPr>
        <p:spPr>
          <a:xfrm>
            <a:off x="-76200" y="5474278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7F38E0-C5B2-80FC-E13A-ACDD458F03DB}"/>
              </a:ext>
            </a:extLst>
          </p:cNvPr>
          <p:cNvCxnSpPr/>
          <p:nvPr/>
        </p:nvCxnSpPr>
        <p:spPr>
          <a:xfrm>
            <a:off x="0" y="339547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F96337-EEAB-1FC2-91CF-8BB223A15321}"/>
              </a:ext>
            </a:extLst>
          </p:cNvPr>
          <p:cNvCxnSpPr>
            <a:cxnSpLocks/>
          </p:cNvCxnSpPr>
          <p:nvPr/>
        </p:nvCxnSpPr>
        <p:spPr>
          <a:xfrm>
            <a:off x="5735073" y="1295400"/>
            <a:ext cx="0" cy="4038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17831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50"/>
            <a:ext cx="10377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/>
              <a:t>DG1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31069" y="1284113"/>
            <a:ext cx="4965272" cy="4108817"/>
          </a:xfrm>
          <a:prstGeom prst="rect">
            <a:avLst/>
          </a:prstGeom>
        </p:spPr>
        <p:txBody>
          <a:bodyPr vert="horz" wrap="square" lIns="0" tIns="60960" rIns="0" bIns="0" numCol="1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system using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federated learning and blockchain.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trained lightweight models like </a:t>
            </a:r>
            <a:r>
              <a:rPr lang="en-GB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their own data and sent only encrypted model updates, not raw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checked each update for safety and then saved it securely on the blockchain for tamper-proof storage.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98.32% accuracy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faster convergence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less communication cost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/>
              <a:t>Operating System: </a:t>
            </a:r>
            <a:r>
              <a:rPr lang="en-US" sz="1500" b="1" dirty="0"/>
              <a:t>Windows 10 / Ubuntu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500" dirty="0"/>
              <a:t>Programming Language: </a:t>
            </a:r>
            <a:r>
              <a:rPr lang="en-IN" sz="1500" b="1" dirty="0"/>
              <a:t>Python 3.10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1500" dirty="0"/>
              <a:t>Frameworks: </a:t>
            </a:r>
            <a:r>
              <a:rPr lang="en-IN" sz="1500" b="1" dirty="0"/>
              <a:t>TensorFlow</a:t>
            </a:r>
            <a:r>
              <a:rPr lang="en-IN" sz="1500" dirty="0"/>
              <a:t>, </a:t>
            </a:r>
            <a:r>
              <a:rPr lang="en-IN" sz="1500" b="1" dirty="0"/>
              <a:t>Hyperledger Fabric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/>
              <a:t>Libraries: </a:t>
            </a:r>
            <a:r>
              <a:rPr lang="en-US" sz="1500" b="1" dirty="0"/>
              <a:t>NumPy</a:t>
            </a:r>
            <a:r>
              <a:rPr lang="en-US" sz="1500" dirty="0"/>
              <a:t>, </a:t>
            </a:r>
            <a:r>
              <a:rPr lang="en-US" sz="1500" b="1" dirty="0"/>
              <a:t>Pandas</a:t>
            </a:r>
            <a:r>
              <a:rPr lang="en-US" sz="1500" dirty="0"/>
              <a:t>, </a:t>
            </a:r>
            <a:r>
              <a:rPr lang="en-US" sz="1500" b="1" dirty="0"/>
              <a:t>Matplotlib</a:t>
            </a:r>
            <a:r>
              <a:rPr lang="en-US" sz="1500" dirty="0"/>
              <a:t>, </a:t>
            </a:r>
            <a:r>
              <a:rPr lang="en-US" sz="1500" b="1" dirty="0"/>
              <a:t>Scikit-learn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3CE67-B665-C062-4108-58FF9275814B}"/>
              </a:ext>
            </a:extLst>
          </p:cNvPr>
          <p:cNvSpPr txBox="1"/>
          <p:nvPr/>
        </p:nvSpPr>
        <p:spPr>
          <a:xfrm>
            <a:off x="5980256" y="1295400"/>
            <a:ext cx="6094476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sz="1500" dirty="0"/>
              <a:t>Processor: </a:t>
            </a:r>
            <a:r>
              <a:rPr lang="sv-SE" sz="1500" b="1" dirty="0"/>
              <a:t>Intel i7 / AMD Ryzen 7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GPU: </a:t>
            </a:r>
            <a:r>
              <a:rPr lang="en-IN" sz="1600" b="1" dirty="0"/>
              <a:t>NVIDIA Tesla T4 (16 GB)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RAM: </a:t>
            </a:r>
            <a:r>
              <a:rPr lang="en-IN" sz="1600" b="1" dirty="0"/>
              <a:t>16 GB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Storage: </a:t>
            </a:r>
            <a:r>
              <a:rPr lang="en-IN" sz="1600" b="1" dirty="0"/>
              <a:t>256 GB SSD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200" b="1" dirty="0"/>
              <a:t>Challenges &amp; Solutions: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Challenge:</a:t>
            </a:r>
            <a:r>
              <a:rPr lang="en-GB" sz="1400" dirty="0"/>
              <a:t> High communication delay → </a:t>
            </a:r>
            <a:r>
              <a:rPr lang="en-GB" sz="1400" b="1" dirty="0"/>
              <a:t>Solution:</a:t>
            </a:r>
            <a:r>
              <a:rPr lang="en-GB" sz="1400" dirty="0"/>
              <a:t> Used Adaptive Weight Aggregation (AWA) to reduce communication load.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Challenge:</a:t>
            </a:r>
            <a:r>
              <a:rPr lang="en-GB" sz="1400" dirty="0"/>
              <a:t> Risk of patient data leakage → </a:t>
            </a:r>
            <a:r>
              <a:rPr lang="en-GB" sz="1400" b="1" dirty="0"/>
              <a:t>Solution: </a:t>
            </a:r>
            <a:r>
              <a:rPr lang="en-GB" sz="1400" dirty="0"/>
              <a:t>Applied Differential Privacy (DP) to protect sensitive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Challenge: </a:t>
            </a:r>
            <a:r>
              <a:rPr lang="en-GB" sz="1400" dirty="0"/>
              <a:t>High energy usage in blockchain → </a:t>
            </a:r>
            <a:r>
              <a:rPr lang="en-GB" sz="1400" b="1" dirty="0"/>
              <a:t>Solution: </a:t>
            </a:r>
            <a:r>
              <a:rPr lang="en-GB" sz="1400" dirty="0"/>
              <a:t>Used an optimized Proof-of-Stake (</a:t>
            </a:r>
            <a:r>
              <a:rPr lang="en-GB" sz="1400" dirty="0" err="1"/>
              <a:t>PoS</a:t>
            </a:r>
            <a:r>
              <a:rPr lang="en-GB" sz="1400" dirty="0"/>
              <a:t>) consensus for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Challenge:</a:t>
            </a:r>
            <a:r>
              <a:rPr lang="en-GB" sz="1400" dirty="0"/>
              <a:t> Model overfitting on medical data </a:t>
            </a:r>
            <a:r>
              <a:rPr lang="en-GB" sz="1400" b="1" dirty="0"/>
              <a:t>→ Solution: </a:t>
            </a:r>
            <a:r>
              <a:rPr lang="en-GB" sz="1400" dirty="0"/>
              <a:t>Used dropout and early stopping to keep the model stable.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038B5A-5EF9-1470-B1C3-680D747D6E52}"/>
              </a:ext>
            </a:extLst>
          </p:cNvPr>
          <p:cNvCxnSpPr/>
          <p:nvPr/>
        </p:nvCxnSpPr>
        <p:spPr>
          <a:xfrm>
            <a:off x="0" y="1143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6B5718-9887-84B1-60CE-7AD5B01F496B}"/>
              </a:ext>
            </a:extLst>
          </p:cNvPr>
          <p:cNvCxnSpPr/>
          <p:nvPr/>
        </p:nvCxnSpPr>
        <p:spPr>
          <a:xfrm>
            <a:off x="0" y="5791200"/>
            <a:ext cx="1226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58CE4-789D-8F50-73CD-947377767912}"/>
              </a:ext>
            </a:extLst>
          </p:cNvPr>
          <p:cNvCxnSpPr/>
          <p:nvPr/>
        </p:nvCxnSpPr>
        <p:spPr>
          <a:xfrm>
            <a:off x="5827410" y="1143000"/>
            <a:ext cx="0" cy="480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DAA480-7055-E5E5-75C2-3E8BE7186C81}"/>
              </a:ext>
            </a:extLst>
          </p:cNvPr>
          <p:cNvCxnSpPr/>
          <p:nvPr/>
        </p:nvCxnSpPr>
        <p:spPr>
          <a:xfrm>
            <a:off x="0" y="3733800"/>
            <a:ext cx="58274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98E52-C0AD-C58F-444B-E1A39495856C}"/>
              </a:ext>
            </a:extLst>
          </p:cNvPr>
          <p:cNvCxnSpPr/>
          <p:nvPr/>
        </p:nvCxnSpPr>
        <p:spPr>
          <a:xfrm>
            <a:off x="5827410" y="2743200"/>
            <a:ext cx="63645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4">
            <a:extLst>
              <a:ext uri="{FF2B5EF4-FFF2-40B4-BE49-F238E27FC236}">
                <a16:creationId xmlns:a16="http://schemas.microsoft.com/office/drawing/2014/main" id="{04B343CC-F366-E999-9364-27D0231E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devices trained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BLSTM / MobileNet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and shared encrypted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E972B-9256-6CEA-9C4A-DDE8FBBC0DBD}"/>
              </a:ext>
            </a:extLst>
          </p:cNvPr>
          <p:cNvSpPr txBox="1"/>
          <p:nvPr/>
        </p:nvSpPr>
        <p:spPr>
          <a:xfrm>
            <a:off x="457200" y="5634985"/>
            <a:ext cx="648725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vs Validation Accuracy and Loss Trends for LB-FDL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477E2-B2D2-F783-52FA-A6DC8C56B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6946"/>
            <a:ext cx="4609465" cy="346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E74E54-AE1D-FA1A-3D66-B27951FF89AD}"/>
              </a:ext>
            </a:extLst>
          </p:cNvPr>
          <p:cNvSpPr txBox="1"/>
          <p:nvPr/>
        </p:nvSpPr>
        <p:spPr>
          <a:xfrm>
            <a:off x="6629400" y="1741611"/>
            <a:ext cx="5334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This graph shows how long different systems take to deploy a smart contract when the number of transactions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BFL-</a:t>
            </a:r>
            <a:r>
              <a:rPr lang="en-GB" sz="1400" b="1" dirty="0" err="1"/>
              <a:t>hIoT</a:t>
            </a:r>
            <a:r>
              <a:rPr lang="en-GB" sz="1400" b="1" dirty="0"/>
              <a:t> (Blockchain-enabled Federated Learning for Healthcare Internet of Things)</a:t>
            </a:r>
            <a:r>
              <a:rPr lang="en-GB" sz="1400" dirty="0"/>
              <a:t> has the </a:t>
            </a:r>
            <a:r>
              <a:rPr lang="en-GB" sz="1400" b="1" dirty="0"/>
              <a:t>lowest execution time</a:t>
            </a:r>
            <a:r>
              <a:rPr lang="en-GB" sz="1400" dirty="0"/>
              <a:t>, staying between 8 to 17 seconds even when transactions increase. This means it is the </a:t>
            </a:r>
            <a:r>
              <a:rPr lang="en-GB" sz="1400" b="1" dirty="0"/>
              <a:t>fastest and most efficient</a:t>
            </a:r>
            <a:r>
              <a:rPr lang="en-GB" sz="1400" dirty="0"/>
              <a:t> among all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BDSDT (Blockchain-based Data Sharing and Detection Technique)</a:t>
            </a:r>
            <a:r>
              <a:rPr lang="en-GB" sz="1400" dirty="0"/>
              <a:t> takes more time than BFL-</a:t>
            </a:r>
            <a:r>
              <a:rPr lang="en-GB" sz="1400" dirty="0" err="1"/>
              <a:t>hIoT</a:t>
            </a:r>
            <a:r>
              <a:rPr lang="en-GB" sz="1400" dirty="0"/>
              <a:t> but is still moderate, rising from around 10 to 28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BMC-SDN (Blockchain-Managed Software Defined Networking)</a:t>
            </a:r>
            <a:r>
              <a:rPr lang="en-GB" sz="1400" dirty="0"/>
              <a:t> increases steadily from about 21 to 38 seconds as transactions grow, showing </a:t>
            </a:r>
            <a:r>
              <a:rPr lang="en-GB" sz="1400" b="1" dirty="0"/>
              <a:t>higher delay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 err="1"/>
              <a:t>BLockSDSec</a:t>
            </a:r>
            <a:r>
              <a:rPr lang="en-GB" sz="1400" b="1" dirty="0"/>
              <a:t> (Blockchain-based Software-Defined Security)</a:t>
            </a:r>
            <a:r>
              <a:rPr lang="en-GB" sz="1400" dirty="0"/>
              <a:t> starts at about 31 seconds and rises to around 38 seconds, meaning it is </a:t>
            </a:r>
            <a:r>
              <a:rPr lang="en-GB" sz="1400" b="1" dirty="0"/>
              <a:t>slower and less scalable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CIDS (Collaborative Intrusion Detection System)</a:t>
            </a:r>
            <a:r>
              <a:rPr lang="en-GB" sz="1400" dirty="0"/>
              <a:t> shows the </a:t>
            </a:r>
            <a:r>
              <a:rPr lang="en-GB" sz="1400" b="1" dirty="0"/>
              <a:t>highest delay</a:t>
            </a:r>
            <a:r>
              <a:rPr lang="en-GB" sz="1400" dirty="0"/>
              <a:t>, starting near 40 seconds and reaching close to 48 seconds, making it the </a:t>
            </a:r>
            <a:r>
              <a:rPr lang="en-GB" sz="1400" b="1" dirty="0"/>
              <a:t>slowest</a:t>
            </a:r>
            <a:r>
              <a:rPr lang="en-GB" sz="1400" dirty="0"/>
              <a:t>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97B4-E297-1DCE-2058-9CD731C4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CCF66CD2-F71B-7715-1D3B-A08C7937E2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5237EA-D62F-32B5-A5BF-83DB2D79E7F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D679567-C167-C817-E3BA-DA23E5B5A9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5BFEE94-9E6C-5BCA-3B1F-75640924C7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4163"/>
            <a:ext cx="10099675" cy="1198562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58B4F4F-3EF1-B07F-DB1E-71A2DD027B62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8CEF671-1B93-C048-AA60-F8B58035EEA5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7A59F70A-12E9-9DBB-BD66-F355528EB81E}"/>
              </a:ext>
            </a:extLst>
          </p:cNvPr>
          <p:cNvSpPr txBox="1"/>
          <p:nvPr/>
        </p:nvSpPr>
        <p:spPr>
          <a:xfrm>
            <a:off x="617790" y="1981200"/>
            <a:ext cx="4191000" cy="33348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bar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graph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compares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accuracy</a:t>
            </a:r>
            <a:r>
              <a:rPr sz="16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two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models: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b="1" dirty="0">
                <a:latin typeface="Calibri" panose="020F0502020204030204"/>
                <a:cs typeface="Calibri" panose="020F0502020204030204"/>
              </a:rPr>
              <a:t>BDSDT</a:t>
            </a:r>
            <a:r>
              <a:rPr sz="16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(blue)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b="1" dirty="0">
                <a:latin typeface="Calibri" panose="020F0502020204030204"/>
                <a:cs typeface="Calibri" panose="020F0502020204030204"/>
              </a:rPr>
              <a:t>BFL-hIoT</a:t>
            </a:r>
            <a:r>
              <a:rPr sz="16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(orange)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marR="5080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/>
                <a:cs typeface="Calibri" panose="020F0502020204030204"/>
              </a:rPr>
              <a:t>Each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pair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bars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shows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how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well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two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models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perform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on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different attack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types.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600" b="1" dirty="0">
                <a:latin typeface="Calibri" panose="020F0502020204030204"/>
                <a:cs typeface="Calibri" panose="020F0502020204030204"/>
              </a:rPr>
              <a:t>What</a:t>
            </a:r>
            <a:r>
              <a:rPr sz="1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it</a:t>
            </a:r>
            <a:r>
              <a:rPr sz="1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tells</a:t>
            </a:r>
            <a:r>
              <a:rPr sz="16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25" dirty="0">
                <a:latin typeface="Calibri" panose="020F0502020204030204"/>
                <a:cs typeface="Calibri" panose="020F0502020204030204"/>
              </a:rPr>
              <a:t>us: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orange</a:t>
            </a:r>
            <a:r>
              <a:rPr sz="16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bars</a:t>
            </a:r>
            <a:r>
              <a:rPr sz="16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(BFL-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hIoT)</a:t>
            </a:r>
            <a:r>
              <a:rPr sz="1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slightly</a:t>
            </a:r>
            <a:r>
              <a:rPr sz="16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higher</a:t>
            </a:r>
            <a:r>
              <a:rPr sz="16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most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cases.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marR="122555" indent="-285750">
              <a:lnSpc>
                <a:spcPts val="169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means</a:t>
            </a:r>
            <a:r>
              <a:rPr sz="16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BFL-hIoT</a:t>
            </a:r>
            <a:r>
              <a:rPr sz="16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gives</a:t>
            </a:r>
            <a:r>
              <a:rPr sz="1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better</a:t>
            </a:r>
            <a:r>
              <a:rPr sz="16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accuracy</a:t>
            </a:r>
            <a:r>
              <a:rPr sz="16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than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BDSDT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for</a:t>
            </a:r>
            <a:r>
              <a:rPr sz="1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almost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all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attack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types.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ts val="1625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Calibri" panose="020F0502020204030204"/>
                <a:cs typeface="Calibri" panose="020F0502020204030204"/>
              </a:rPr>
              <a:t>Both</a:t>
            </a:r>
            <a:r>
              <a:rPr sz="1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models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still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give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high</a:t>
            </a:r>
            <a:r>
              <a:rPr sz="16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accuracy</a:t>
            </a:r>
            <a:r>
              <a:rPr sz="16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overall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1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but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BFL-hIoT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20" dirty="0">
                <a:latin typeface="Calibri" panose="020F0502020204030204"/>
                <a:cs typeface="Calibri" panose="020F0502020204030204"/>
              </a:rPr>
              <a:t>more</a:t>
            </a:r>
            <a:endParaRPr sz="1600" dirty="0">
              <a:latin typeface="Calibri" panose="020F0502020204030204"/>
              <a:cs typeface="Calibri" panose="020F0502020204030204"/>
            </a:endParaRPr>
          </a:p>
          <a:p>
            <a:pPr marL="298450" indent="-285750">
              <a:lnSpc>
                <a:spcPct val="10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consistent</a:t>
            </a:r>
            <a:r>
              <a:rPr sz="16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performs</a:t>
            </a:r>
            <a:r>
              <a:rPr sz="16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.</a:t>
            </a:r>
            <a:endParaRPr sz="16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6" name="object 3">
            <a:extLst>
              <a:ext uri="{FF2B5EF4-FFF2-40B4-BE49-F238E27FC236}">
                <a16:creationId xmlns:a16="http://schemas.microsoft.com/office/drawing/2014/main" id="{848E2BB0-6390-3F0D-4F93-F37931C5F6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541" y="4101364"/>
            <a:ext cx="5714999" cy="2314955"/>
          </a:xfrm>
          <a:prstGeom prst="rect">
            <a:avLst/>
          </a:prstGeom>
        </p:spPr>
      </p:pic>
      <p:pic>
        <p:nvPicPr>
          <p:cNvPr id="17" name="table">
            <a:extLst>
              <a:ext uri="{FF2B5EF4-FFF2-40B4-BE49-F238E27FC236}">
                <a16:creationId xmlns:a16="http://schemas.microsoft.com/office/drawing/2014/main" id="{CD21CBE3-B753-130F-A476-CA815BD793F1}"/>
              </a:ext>
            </a:extLst>
          </p:cNvPr>
          <p:cNvPicPr>
            <a:picLocks noGr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91" y="1600200"/>
            <a:ext cx="5714998" cy="2356358"/>
          </a:xfrm>
          <a:prstGeom prst="rect">
            <a:avLst/>
          </a:prstGeom>
        </p:spPr>
      </p:pic>
      <p:sp>
        <p:nvSpPr>
          <p:cNvPr id="18" name="object 5">
            <a:extLst>
              <a:ext uri="{FF2B5EF4-FFF2-40B4-BE49-F238E27FC236}">
                <a16:creationId xmlns:a16="http://schemas.microsoft.com/office/drawing/2014/main" id="{6C40CDDD-0EB2-13EE-2E27-C2CB5162A78C}"/>
              </a:ext>
            </a:extLst>
          </p:cNvPr>
          <p:cNvSpPr txBox="1"/>
          <p:nvPr/>
        </p:nvSpPr>
        <p:spPr>
          <a:xfrm>
            <a:off x="7154449" y="1365168"/>
            <a:ext cx="2804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Arial" panose="020B0604020202020204"/>
                <a:cs typeface="Arial" panose="020B0604020202020204"/>
              </a:rPr>
              <a:t>Table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: Comparison</a:t>
            </a:r>
            <a:r>
              <a:rPr sz="10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of</a:t>
            </a:r>
            <a:r>
              <a:rPr sz="10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BFL-hIoT</a:t>
            </a:r>
            <a:r>
              <a:rPr sz="10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and</a:t>
            </a:r>
            <a:r>
              <a:rPr sz="1050" b="1" spc="-20" dirty="0">
                <a:latin typeface="Arial" panose="020B0604020202020204"/>
                <a:cs typeface="Arial" panose="020B0604020202020204"/>
              </a:rPr>
              <a:t> LBFDL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67000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6F39-A838-4730-1D30-F727C39C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4D68BD4-60E0-E47C-FFCE-C382162B5E3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0578473-B73F-9BF9-EC7A-11C52E3B731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18FB0C-CAC9-D76A-7B87-5D4E97FA814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EF623A2-EFB0-C2A0-6060-351F5C23BD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4163"/>
            <a:ext cx="10099675" cy="1198562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B8C885-748B-FBDA-9DDB-2F6CC1B1F1E5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0438C8-F563-4FE5-3342-A983A7B2C8BF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table">
            <a:extLst>
              <a:ext uri="{FF2B5EF4-FFF2-40B4-BE49-F238E27FC236}">
                <a16:creationId xmlns:a16="http://schemas.microsoft.com/office/drawing/2014/main" id="{84FC1C09-CEAD-C87B-3FF3-9C459AAB93CB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44170"/>
            <a:ext cx="6172200" cy="3721729"/>
          </a:xfrm>
          <a:prstGeom prst="rect">
            <a:avLst/>
          </a:prstGeom>
        </p:spPr>
      </p:pic>
      <p:sp>
        <p:nvSpPr>
          <p:cNvPr id="18" name="object 5">
            <a:extLst>
              <a:ext uri="{FF2B5EF4-FFF2-40B4-BE49-F238E27FC236}">
                <a16:creationId xmlns:a16="http://schemas.microsoft.com/office/drawing/2014/main" id="{9E8CE9A2-6A0E-7ECA-5DF9-1ED6956FEC55}"/>
              </a:ext>
            </a:extLst>
          </p:cNvPr>
          <p:cNvSpPr txBox="1"/>
          <p:nvPr/>
        </p:nvSpPr>
        <p:spPr>
          <a:xfrm>
            <a:off x="7543800" y="5410200"/>
            <a:ext cx="2804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Arial" panose="020B0604020202020204"/>
                <a:cs typeface="Arial" panose="020B0604020202020204"/>
              </a:rPr>
              <a:t>Table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: Comparison</a:t>
            </a:r>
            <a:r>
              <a:rPr sz="10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of</a:t>
            </a:r>
            <a:r>
              <a:rPr sz="10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BFL-hIoT</a:t>
            </a:r>
            <a:r>
              <a:rPr sz="10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and</a:t>
            </a:r>
            <a:r>
              <a:rPr sz="1050" b="1" spc="-20" dirty="0">
                <a:latin typeface="Arial" panose="020B0604020202020204"/>
                <a:cs typeface="Arial" panose="020B0604020202020204"/>
              </a:rPr>
              <a:t> LBFDL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BDA973-1425-9F90-8F1C-73DB5C82CEAE}"/>
              </a:ext>
            </a:extLst>
          </p:cNvPr>
          <p:cNvSpPr txBox="1"/>
          <p:nvPr/>
        </p:nvSpPr>
        <p:spPr>
          <a:xfrm>
            <a:off x="53673" y="1572597"/>
            <a:ext cx="54514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Uses federated learning with blockchain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Adds extra privacy using differential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protects user data better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Uses BLSTM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Uses lightweight models like </a:t>
            </a:r>
            <a:r>
              <a:rPr lang="en-IN" dirty="0" err="1"/>
              <a:t>MobileNet</a:t>
            </a:r>
            <a:r>
              <a:rPr lang="en-IN" dirty="0"/>
              <a:t>/</a:t>
            </a:r>
            <a:r>
              <a:rPr lang="en-IN" dirty="0" err="1"/>
              <a:t>EfficientNet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is less heavy and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55054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1385-8D90-32B3-B897-D16B4E82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47F6B178-1C96-BECC-6675-F5B476B3CA1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FFBEFFD-386B-19E5-922F-EA2414E36FD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E008404-EF28-E943-CBE0-C16C5F094FD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70E0A45-9D5B-1626-74B4-92FC318EC1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4163"/>
            <a:ext cx="10099675" cy="1198562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29ADAC1-F2EA-9E25-01B6-37F9A0177546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7589A56-64AC-542D-AD84-48312513FDA0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table">
            <a:extLst>
              <a:ext uri="{FF2B5EF4-FFF2-40B4-BE49-F238E27FC236}">
                <a16:creationId xmlns:a16="http://schemas.microsoft.com/office/drawing/2014/main" id="{B5E4CACB-F36E-FEE6-1630-27D8C361E210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44170"/>
            <a:ext cx="6172200" cy="3721729"/>
          </a:xfrm>
          <a:prstGeom prst="rect">
            <a:avLst/>
          </a:prstGeom>
        </p:spPr>
      </p:pic>
      <p:sp>
        <p:nvSpPr>
          <p:cNvPr id="18" name="object 5">
            <a:extLst>
              <a:ext uri="{FF2B5EF4-FFF2-40B4-BE49-F238E27FC236}">
                <a16:creationId xmlns:a16="http://schemas.microsoft.com/office/drawing/2014/main" id="{B03DCC49-6497-5E37-663F-7B9A124A89C8}"/>
              </a:ext>
            </a:extLst>
          </p:cNvPr>
          <p:cNvSpPr txBox="1"/>
          <p:nvPr/>
        </p:nvSpPr>
        <p:spPr>
          <a:xfrm>
            <a:off x="7543800" y="5410200"/>
            <a:ext cx="2804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Arial" panose="020B0604020202020204"/>
                <a:cs typeface="Arial" panose="020B0604020202020204"/>
              </a:rPr>
              <a:t>Table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: Comparison</a:t>
            </a:r>
            <a:r>
              <a:rPr sz="10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of</a:t>
            </a:r>
            <a:r>
              <a:rPr sz="10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BFL-hIoT</a:t>
            </a:r>
            <a:r>
              <a:rPr sz="10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and</a:t>
            </a:r>
            <a:r>
              <a:rPr sz="1050" b="1" spc="-20" dirty="0">
                <a:latin typeface="Arial" panose="020B0604020202020204"/>
                <a:cs typeface="Arial" panose="020B0604020202020204"/>
              </a:rPr>
              <a:t> LBFDL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46DCD-D972-DC86-42D9-136B54BBC995}"/>
              </a:ext>
            </a:extLst>
          </p:cNvPr>
          <p:cNvSpPr txBox="1"/>
          <p:nvPr/>
        </p:nvSpPr>
        <p:spPr>
          <a:xfrm>
            <a:off x="60930" y="1624758"/>
            <a:ext cx="56540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About 93%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About 98%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gives more correct results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Needs more data exchange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Needs less data exchange (around 20% less)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saves network bandwidth</a:t>
            </a:r>
          </a:p>
        </p:txBody>
      </p:sp>
    </p:spTree>
    <p:extLst>
      <p:ext uri="{BB962C8B-B14F-4D97-AF65-F5344CB8AC3E}">
        <p14:creationId xmlns:p14="http://schemas.microsoft.com/office/powerpoint/2010/main" val="2919487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540A-6686-847A-F70C-1C4F8F70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416E71B-DCDC-BF15-C2ED-5F8B8FB7967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CE802F-D834-35BF-28AF-10591EB01EC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A97E97-3F3F-E39B-C0BA-6B4217F03D0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DD3F0A4-1874-6B33-DDD2-279CB25431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84163"/>
            <a:ext cx="10099675" cy="1198562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FCF887D-8E01-689A-6176-615EAFE70A80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C735F39-7856-A047-C1CB-614474B88A77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7" name="table">
            <a:extLst>
              <a:ext uri="{FF2B5EF4-FFF2-40B4-BE49-F238E27FC236}">
                <a16:creationId xmlns:a16="http://schemas.microsoft.com/office/drawing/2014/main" id="{735CE2D9-1653-70A5-1BD8-F3B63FB386DF}"/>
              </a:ext>
            </a:extLst>
          </p:cNvPr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44170"/>
            <a:ext cx="6172200" cy="3721729"/>
          </a:xfrm>
          <a:prstGeom prst="rect">
            <a:avLst/>
          </a:prstGeom>
        </p:spPr>
      </p:pic>
      <p:sp>
        <p:nvSpPr>
          <p:cNvPr id="18" name="object 5">
            <a:extLst>
              <a:ext uri="{FF2B5EF4-FFF2-40B4-BE49-F238E27FC236}">
                <a16:creationId xmlns:a16="http://schemas.microsoft.com/office/drawing/2014/main" id="{14A7947B-A88F-67EA-847E-EC11A64BFF3B}"/>
              </a:ext>
            </a:extLst>
          </p:cNvPr>
          <p:cNvSpPr txBox="1"/>
          <p:nvPr/>
        </p:nvSpPr>
        <p:spPr>
          <a:xfrm>
            <a:off x="7543800" y="5410200"/>
            <a:ext cx="28047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Arial" panose="020B0604020202020204"/>
                <a:cs typeface="Arial" panose="020B0604020202020204"/>
              </a:rPr>
              <a:t>Table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: Comparison</a:t>
            </a:r>
            <a:r>
              <a:rPr sz="10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of</a:t>
            </a:r>
            <a:r>
              <a:rPr sz="10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BFL-hIoT</a:t>
            </a:r>
            <a:r>
              <a:rPr sz="105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latin typeface="Arial" panose="020B0604020202020204"/>
                <a:cs typeface="Arial" panose="020B0604020202020204"/>
              </a:rPr>
              <a:t>and</a:t>
            </a:r>
            <a:r>
              <a:rPr sz="1050" b="1" spc="-20" dirty="0">
                <a:latin typeface="Arial" panose="020B0604020202020204"/>
                <a:cs typeface="Arial" panose="020B0604020202020204"/>
              </a:rPr>
              <a:t> LBFDL</a:t>
            </a:r>
            <a:endParaRPr sz="10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406643-EA6D-628C-4F12-A273068A6F45}"/>
              </a:ext>
            </a:extLst>
          </p:cNvPr>
          <p:cNvSpPr txBox="1"/>
          <p:nvPr/>
        </p:nvSpPr>
        <p:spPr>
          <a:xfrm>
            <a:off x="152400" y="136771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Moderate processing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Faster processing (around 30% faster)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works quicker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Consensus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Uses Proof of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Uses optimized Proof of Stake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Difference:</a:t>
            </a:r>
            <a:r>
              <a:rPr lang="en-IN" dirty="0"/>
              <a:t> LB-FDL is faster and uses less energy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Overall Difference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BFL-</a:t>
            </a:r>
            <a:r>
              <a:rPr lang="en-IN" b="1" dirty="0" err="1"/>
              <a:t>hIoT</a:t>
            </a:r>
            <a:r>
              <a:rPr lang="en-IN" b="1" dirty="0"/>
              <a:t>:</a:t>
            </a:r>
            <a:r>
              <a:rPr lang="en-IN" dirty="0"/>
              <a:t> Secure but slower and heavier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LB-FDL:</a:t>
            </a:r>
            <a:r>
              <a:rPr lang="en-IN" dirty="0"/>
              <a:t> More accurate, faster, and more efficient</a:t>
            </a:r>
          </a:p>
        </p:txBody>
      </p:sp>
    </p:spTree>
    <p:extLst>
      <p:ext uri="{BB962C8B-B14F-4D97-AF65-F5344CB8AC3E}">
        <p14:creationId xmlns:p14="http://schemas.microsoft.com/office/powerpoint/2010/main" val="1121044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CE6471-E943-450E-8254-A4625D92B0DF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9FBDA-D4C8-CB35-951A-421BCAED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40" y="1295400"/>
            <a:ext cx="7198119" cy="441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5BD200-063E-750C-86C9-1F085B6DD605}"/>
              </a:ext>
            </a:extLst>
          </p:cNvPr>
          <p:cNvSpPr txBox="1"/>
          <p:nvPr/>
        </p:nvSpPr>
        <p:spPr>
          <a:xfrm>
            <a:off x="2209800" y="58872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Fig: Home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AF074-68D7-00FA-7E83-061D7BD53998}"/>
              </a:ext>
            </a:extLst>
          </p:cNvPr>
          <p:cNvSpPr txBox="1"/>
          <p:nvPr/>
        </p:nvSpPr>
        <p:spPr>
          <a:xfrm>
            <a:off x="7543800" y="1361523"/>
            <a:ext cx="4724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Home Page – Secure Healthcare Data Portal: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Acts as the landing page of the healthcare web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Introduces the system as a secure healthcare data management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Explains that only authorized users can access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Highlights the purpose of managing healthcare data safely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Displays key features like authentication and data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Provides navigation links to Home, About, Data, and Create Data pages</a:t>
            </a:r>
          </a:p>
        </p:txBody>
      </p:sp>
    </p:spTree>
    <p:extLst>
      <p:ext uri="{BB962C8B-B14F-4D97-AF65-F5344CB8AC3E}">
        <p14:creationId xmlns:p14="http://schemas.microsoft.com/office/powerpoint/2010/main" val="1331987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426F-5C2C-E537-5782-941CB2CF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03E8FD-E435-D56B-A165-F043DDBEF225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C4831-1D04-C876-3FB2-3FE3B5195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508" y="1219200"/>
            <a:ext cx="7050184" cy="4648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130220-CE70-6C4F-D5D2-9D3D129F34DF}"/>
              </a:ext>
            </a:extLst>
          </p:cNvPr>
          <p:cNvSpPr txBox="1"/>
          <p:nvPr/>
        </p:nvSpPr>
        <p:spPr>
          <a:xfrm>
            <a:off x="228600" y="1371600"/>
            <a:ext cx="4267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About Page – Team and Project Overview: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Explains the overall goal of the healthcare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Describes the project as a secure data management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Displays team members involved in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Shows individual roles such as frontend, backend, and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Mentions the use of React for frontend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Mentions Flask as the backend framework for validation and APIs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01DD1-4172-5112-FF9C-D863771DEE84}"/>
              </a:ext>
            </a:extLst>
          </p:cNvPr>
          <p:cNvSpPr txBox="1"/>
          <p:nvPr/>
        </p:nvSpPr>
        <p:spPr>
          <a:xfrm>
            <a:off x="7239000" y="5911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Fig:About Page</a:t>
            </a:r>
          </a:p>
        </p:txBody>
      </p:sp>
    </p:spTree>
    <p:extLst>
      <p:ext uri="{BB962C8B-B14F-4D97-AF65-F5344CB8AC3E}">
        <p14:creationId xmlns:p14="http://schemas.microsoft.com/office/powerpoint/2010/main" val="256569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F8D25-5491-9370-22A9-1DDE1C66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C6B33-2C42-90C6-984A-D883AD18D7A3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17C33-66E6-0392-14FE-869D55648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524000"/>
            <a:ext cx="7315200" cy="3581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4D419-95B9-BED0-E1B8-D006DF3B5DAB}"/>
              </a:ext>
            </a:extLst>
          </p:cNvPr>
          <p:cNvSpPr txBox="1"/>
          <p:nvPr/>
        </p:nvSpPr>
        <p:spPr>
          <a:xfrm>
            <a:off x="304800" y="1582340"/>
            <a:ext cx="3886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Login Page: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Allows registered users to log into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Requires valid username and password for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Prevents unauthorized users from accessing patient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Ensures secure authentication of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Provides a button for new users to 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Grants access to Data and Create Data pages after login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BBE5E-9261-D379-DBD4-21B82E420475}"/>
              </a:ext>
            </a:extLst>
          </p:cNvPr>
          <p:cNvSpPr txBox="1"/>
          <p:nvPr/>
        </p:nvSpPr>
        <p:spPr>
          <a:xfrm>
            <a:off x="7239000" y="5183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Fig:Login</a:t>
            </a:r>
            <a:r>
              <a:rPr lang="en-GB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3060413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8DAB-F5CF-2BF6-C265-6A798E8A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F058F-B5C8-BDAA-6D4E-941C24D06CE6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A47157-21AB-2684-10EC-32783B2E4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447800"/>
            <a:ext cx="6553200" cy="3962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160E90-D0AB-86D7-A508-9E8C70FEEC17}"/>
              </a:ext>
            </a:extLst>
          </p:cNvPr>
          <p:cNvSpPr txBox="1"/>
          <p:nvPr/>
        </p:nvSpPr>
        <p:spPr>
          <a:xfrm>
            <a:off x="457200" y="1582339"/>
            <a:ext cx="39188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Register Page: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Allows new users to create an account in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Requires a unique username and valid email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Blocks duplicate usernames and email registrations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Enforces strong password validation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Includes password confirmation for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Provides a login option for existing 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2FDA1-091A-7D80-9684-1C61982409C8}"/>
              </a:ext>
            </a:extLst>
          </p:cNvPr>
          <p:cNvSpPr txBox="1"/>
          <p:nvPr/>
        </p:nvSpPr>
        <p:spPr>
          <a:xfrm>
            <a:off x="7010400" y="5562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Fig:Registration</a:t>
            </a:r>
            <a:r>
              <a:rPr lang="en-GB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2195467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B496-454B-E5D6-9A7F-9DEE12FC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274EC1-A8BD-E0FD-67D1-454A3651EBAE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181DC-77F6-36A6-FB48-D9BB020C7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5400"/>
            <a:ext cx="8458200" cy="426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150A28-1B19-B97A-556F-989D72702DE6}"/>
              </a:ext>
            </a:extLst>
          </p:cNvPr>
          <p:cNvSpPr txBox="1"/>
          <p:nvPr/>
        </p:nvSpPr>
        <p:spPr>
          <a:xfrm>
            <a:off x="8686800" y="1262743"/>
            <a:ext cx="3581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Data Page – Patient Records: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Displays a list of patient records for the logged-in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Shows basic patient details like age, weight, and gender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Displays disease and year of visit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Uses a card-based layout for better readability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Includes a search bar to find patient records easily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Restricts access to authenticated users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27F09-893B-8900-2F91-05EB56FD0C60}"/>
              </a:ext>
            </a:extLst>
          </p:cNvPr>
          <p:cNvSpPr txBox="1"/>
          <p:nvPr/>
        </p:nvSpPr>
        <p:spPr>
          <a:xfrm>
            <a:off x="3429000" y="5791200"/>
            <a:ext cx="6143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Fig:Data</a:t>
            </a:r>
            <a:r>
              <a:rPr lang="en-GB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141624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70C37-FA22-C768-33C6-6E42EAE3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79DEA-3A89-7DC4-D92F-C66915DCFCC1}"/>
              </a:ext>
            </a:extLst>
          </p:cNvPr>
          <p:cNvSpPr txBox="1"/>
          <p:nvPr/>
        </p:nvSpPr>
        <p:spPr>
          <a:xfrm>
            <a:off x="3810000" y="228600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3DCB0-E660-2839-AFA2-DD32E0B63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200150"/>
            <a:ext cx="7772400" cy="4457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D96A0-B54A-4981-DCC5-6FCF49C5EC27}"/>
              </a:ext>
            </a:extLst>
          </p:cNvPr>
          <p:cNvSpPr txBox="1"/>
          <p:nvPr/>
        </p:nvSpPr>
        <p:spPr>
          <a:xfrm>
            <a:off x="228600" y="1351508"/>
            <a:ext cx="36358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Patient Detail Popup (Modal View):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Opens when a patient record card is clicked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Displays complete patient information in detail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Shows phone number, disease, date, and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Uses a popup to avoid page redirection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Dims the background to focus on patient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Allows users to close the popup and return to the data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D72D1-D2D9-428B-4675-E0BC70E2D7CD}"/>
              </a:ext>
            </a:extLst>
          </p:cNvPr>
          <p:cNvSpPr txBox="1"/>
          <p:nvPr/>
        </p:nvSpPr>
        <p:spPr>
          <a:xfrm>
            <a:off x="6553200" y="5867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Fig: Patient Details Popup</a:t>
            </a:r>
          </a:p>
        </p:txBody>
      </p:sp>
    </p:spTree>
    <p:extLst>
      <p:ext uri="{BB962C8B-B14F-4D97-AF65-F5344CB8AC3E}">
        <p14:creationId xmlns:p14="http://schemas.microsoft.com/office/powerpoint/2010/main" val="2525140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3810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74650" y="1221412"/>
            <a:ext cx="11442700" cy="5024452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endParaRPr lang="en-US" sz="23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/>
              <a:t>Key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Achieved </a:t>
            </a:r>
            <a:r>
              <a:rPr lang="en-US" sz="2200" b="1" dirty="0"/>
              <a:t>98.32% accuracy </a:t>
            </a:r>
            <a:r>
              <a:rPr lang="en-US" sz="2200" dirty="0"/>
              <a:t>with faster convergence and less communication cost.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Combined </a:t>
            </a:r>
            <a:r>
              <a:rPr lang="en-US" sz="2200" b="1" dirty="0"/>
              <a:t>Blockchain, Federated Learning, and Differential Privacy </a:t>
            </a:r>
            <a:r>
              <a:rPr lang="en-US" sz="2200" dirty="0"/>
              <a:t>for secure IoT.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lang="en-GB"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learns</a:t>
            </a:r>
            <a:r>
              <a:rPr lang="en-GB"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well,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shows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dirty="0">
                <a:latin typeface="Calibri" panose="020F0502020204030204"/>
                <a:cs typeface="Calibri" panose="020F0502020204030204"/>
              </a:rPr>
              <a:t>good</a:t>
            </a:r>
            <a:r>
              <a:rPr lang="en-GB" sz="24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10" dirty="0">
                <a:latin typeface="Calibri" panose="020F0502020204030204"/>
                <a:cs typeface="Calibri" panose="020F0502020204030204"/>
              </a:rPr>
              <a:t>accuracy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lang="en-GB"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makes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fewer mistakes</a:t>
            </a:r>
            <a:r>
              <a:rPr lang="en-GB"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over</a:t>
            </a:r>
            <a:r>
              <a:rPr lang="en-GB"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/>
                <a:cs typeface="Calibri" panose="020F0502020204030204"/>
              </a:rPr>
              <a:t>Compared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older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methods,</a:t>
            </a:r>
            <a:r>
              <a:rPr lang="en-GB"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lang="en-GB"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30" dirty="0">
                <a:latin typeface="Calibri" panose="020F0502020204030204"/>
                <a:cs typeface="Calibri" panose="020F0502020204030204"/>
              </a:rPr>
              <a:t>faster,</a:t>
            </a:r>
            <a:r>
              <a:rPr lang="en-GB" sz="24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20" dirty="0">
                <a:latin typeface="Calibri" panose="020F0502020204030204"/>
                <a:cs typeface="Calibri" panose="020F0502020204030204"/>
              </a:rPr>
              <a:t>lighter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,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20" dirty="0">
                <a:latin typeface="Calibri" panose="020F0502020204030204"/>
                <a:cs typeface="Calibri" panose="020F0502020204030204"/>
              </a:rPr>
              <a:t>uses </a:t>
            </a:r>
            <a:r>
              <a:rPr lang="en-GB" sz="2400" b="1" dirty="0">
                <a:latin typeface="Calibri" panose="020F0502020204030204"/>
                <a:cs typeface="Calibri" panose="020F0502020204030204"/>
              </a:rPr>
              <a:t>less</a:t>
            </a:r>
            <a:r>
              <a:rPr lang="en-GB" sz="24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dirty="0">
                <a:latin typeface="Calibri" panose="020F0502020204030204"/>
                <a:cs typeface="Calibri" panose="020F0502020204030204"/>
              </a:rPr>
              <a:t>network</a:t>
            </a:r>
            <a:r>
              <a:rPr lang="en-GB" sz="24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20" dirty="0">
                <a:latin typeface="Calibri" panose="020F0502020204030204"/>
                <a:cs typeface="Calibri" panose="020F0502020204030204"/>
              </a:rPr>
              <a:t>data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approach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lang="en-GB"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suitable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real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healthcare</a:t>
            </a:r>
            <a:r>
              <a:rPr lang="en-GB"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systems,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where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both</a:t>
            </a:r>
            <a:r>
              <a:rPr lang="en-GB"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spc="-10" dirty="0">
                <a:latin typeface="Calibri" panose="020F0502020204030204"/>
                <a:cs typeface="Calibri" panose="020F0502020204030204"/>
              </a:rPr>
              <a:t>safety</a:t>
            </a:r>
            <a:r>
              <a:rPr lang="en-GB"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b="1" dirty="0">
                <a:latin typeface="Calibri" panose="020F0502020204030204"/>
                <a:cs typeface="Calibri" panose="020F0502020204030204"/>
              </a:rPr>
              <a:t>accuracy</a:t>
            </a:r>
            <a:r>
              <a:rPr lang="en-GB"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lang="en-GB"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400" spc="-10" dirty="0">
                <a:latin typeface="Calibri" panose="020F0502020204030204"/>
                <a:cs typeface="Calibri" panose="020F0502020204030204"/>
              </a:rPr>
              <a:t>important.</a:t>
            </a:r>
            <a:endParaRPr lang="en-GB" sz="2400" dirty="0">
              <a:latin typeface="Calibri" panose="020F0502020204030204"/>
              <a:cs typeface="Calibri" panose="020F0502020204030204"/>
            </a:endParaRP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/>
              <a:t>Significance of 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Ensures </a:t>
            </a:r>
            <a:r>
              <a:rPr lang="en-US" sz="2200" b="1" dirty="0"/>
              <a:t>data privacy and security </a:t>
            </a:r>
            <a:r>
              <a:rPr lang="en-US" sz="2200" dirty="0"/>
              <a:t>in healthcare IoT networks.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Builds a </a:t>
            </a:r>
            <a:r>
              <a:rPr lang="en-US" sz="2200" b="1" dirty="0"/>
              <a:t>trust-based decentralized system </a:t>
            </a:r>
            <a:r>
              <a:rPr lang="en-US" sz="2200" dirty="0"/>
              <a:t>for medical data sharing.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/>
                <a:cs typeface="Calibri" panose="020F0502020204030204"/>
              </a:rPr>
              <a:t>It</a:t>
            </a:r>
            <a:r>
              <a:rPr lang="en-GB" sz="2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can</a:t>
            </a:r>
            <a:r>
              <a:rPr lang="en-GB" sz="22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detect</a:t>
            </a:r>
            <a:r>
              <a:rPr lang="en-GB" sz="22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spc="-10" dirty="0">
                <a:latin typeface="Calibri" panose="020F0502020204030204"/>
                <a:cs typeface="Calibri" panose="020F0502020204030204"/>
              </a:rPr>
              <a:t>attacks</a:t>
            </a:r>
            <a:r>
              <a:rPr lang="en-GB" sz="2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and</a:t>
            </a:r>
            <a:r>
              <a:rPr lang="en-GB" sz="2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still</a:t>
            </a:r>
            <a:r>
              <a:rPr lang="en-GB" sz="2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keep</a:t>
            </a:r>
            <a:r>
              <a:rPr lang="en-GB" sz="22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dirty="0">
                <a:latin typeface="Calibri" panose="020F0502020204030204"/>
                <a:cs typeface="Calibri" panose="020F0502020204030204"/>
              </a:rPr>
              <a:t>patient</a:t>
            </a:r>
            <a:r>
              <a:rPr lang="en-GB" sz="22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GB" sz="2200" spc="-10" dirty="0">
                <a:latin typeface="Calibri" panose="020F0502020204030204"/>
                <a:cs typeface="Calibri" panose="020F0502020204030204"/>
              </a:rPr>
              <a:t>information safe.</a:t>
            </a:r>
            <a:endParaRPr lang="en-US" sz="2200" dirty="0"/>
          </a:p>
          <a:p>
            <a:endParaRPr lang="en-US" sz="2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E958-1FB5-C67D-3A0D-71F5AB0A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D1E68D-3320-3727-3535-F47D882BA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38BAA7-54FE-0D23-750B-04BDE2B9B6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C969EE-18B4-FDFB-77B1-86537DC11181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1D9124-5557-814F-9781-2B3B4B620D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251870-D769-0DC1-BD51-2D54309E3CB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EF62112-9259-EB53-EC00-592C71221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7DEA59-4D87-62DD-A416-6314800CA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483468"/>
            <a:ext cx="11442700" cy="449071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/>
              <a:t>Future Developments:</a:t>
            </a:r>
          </a:p>
          <a:p>
            <a:pPr marL="213360" marR="5080" indent="-2012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13360" algn="l"/>
              </a:tabLst>
            </a:pPr>
            <a:r>
              <a:rPr lang="en-GB" sz="2400" dirty="0"/>
              <a:t>The</a:t>
            </a:r>
            <a:r>
              <a:rPr lang="en-GB" sz="2400" spc="-15" dirty="0"/>
              <a:t> </a:t>
            </a:r>
            <a:r>
              <a:rPr lang="en-GB" sz="2400" dirty="0"/>
              <a:t>model</a:t>
            </a:r>
            <a:r>
              <a:rPr lang="en-GB" sz="2400" spc="-10" dirty="0"/>
              <a:t> </a:t>
            </a:r>
            <a:r>
              <a:rPr lang="en-GB" sz="2400" dirty="0"/>
              <a:t>can</a:t>
            </a:r>
            <a:r>
              <a:rPr lang="en-GB" sz="2400" spc="-25" dirty="0"/>
              <a:t> </a:t>
            </a:r>
            <a:r>
              <a:rPr lang="en-GB" sz="2400" dirty="0"/>
              <a:t>be</a:t>
            </a:r>
            <a:r>
              <a:rPr lang="en-GB" sz="2400" spc="-5" dirty="0"/>
              <a:t> </a:t>
            </a:r>
            <a:r>
              <a:rPr lang="en-GB" sz="2400" dirty="0"/>
              <a:t>improved</a:t>
            </a:r>
            <a:r>
              <a:rPr lang="en-GB" sz="2400" spc="-25" dirty="0"/>
              <a:t> </a:t>
            </a:r>
            <a:r>
              <a:rPr lang="en-GB" sz="2400" dirty="0"/>
              <a:t>by</a:t>
            </a:r>
            <a:r>
              <a:rPr lang="en-GB" sz="2400" spc="-25" dirty="0"/>
              <a:t> </a:t>
            </a:r>
            <a:r>
              <a:rPr lang="en-GB" sz="2400" dirty="0"/>
              <a:t>using</a:t>
            </a:r>
            <a:r>
              <a:rPr lang="en-GB" sz="2400" spc="-25" dirty="0"/>
              <a:t> </a:t>
            </a:r>
            <a:r>
              <a:rPr lang="en-GB" sz="2400" dirty="0"/>
              <a:t>more</a:t>
            </a:r>
            <a:r>
              <a:rPr lang="en-GB" sz="2400" spc="-5" dirty="0"/>
              <a:t> </a:t>
            </a:r>
            <a:r>
              <a:rPr lang="en-GB" sz="2400" dirty="0"/>
              <a:t>types</a:t>
            </a:r>
            <a:r>
              <a:rPr lang="en-GB" sz="2400" spc="-10" dirty="0"/>
              <a:t> </a:t>
            </a:r>
            <a:r>
              <a:rPr lang="en-GB" sz="2400" dirty="0"/>
              <a:t>of</a:t>
            </a:r>
            <a:r>
              <a:rPr lang="en-GB" sz="2400" spc="-15" dirty="0"/>
              <a:t> </a:t>
            </a:r>
            <a:r>
              <a:rPr lang="en-GB" sz="2400" dirty="0"/>
              <a:t>data,</a:t>
            </a:r>
            <a:r>
              <a:rPr lang="en-GB" sz="2400" spc="-20" dirty="0"/>
              <a:t> like </a:t>
            </a:r>
            <a:r>
              <a:rPr lang="en-GB" sz="2400" dirty="0"/>
              <a:t>medical</a:t>
            </a:r>
            <a:r>
              <a:rPr lang="en-GB" sz="2400" spc="-30" dirty="0"/>
              <a:t> </a:t>
            </a:r>
            <a:r>
              <a:rPr lang="en-GB" sz="2400" dirty="0"/>
              <a:t>images</a:t>
            </a:r>
            <a:r>
              <a:rPr lang="en-GB" sz="2400" spc="-30" dirty="0"/>
              <a:t> </a:t>
            </a:r>
            <a:r>
              <a:rPr lang="en-GB" sz="2400" dirty="0"/>
              <a:t>and</a:t>
            </a:r>
            <a:r>
              <a:rPr lang="en-GB" sz="2400" spc="-40" dirty="0"/>
              <a:t> </a:t>
            </a:r>
            <a:r>
              <a:rPr lang="en-GB" sz="2400" spc="-10" dirty="0"/>
              <a:t>reports.</a:t>
            </a:r>
            <a:endParaRPr lang="en-GB" sz="2400" dirty="0"/>
          </a:p>
          <a:p>
            <a:pPr marL="213360" marR="52705" indent="-201295">
              <a:lnSpc>
                <a:spcPct val="100000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400" dirty="0"/>
              <a:t>It</a:t>
            </a:r>
            <a:r>
              <a:rPr lang="en-GB" sz="2400" spc="-5" dirty="0"/>
              <a:t> </a:t>
            </a:r>
            <a:r>
              <a:rPr lang="en-GB" sz="2400" dirty="0"/>
              <a:t>can</a:t>
            </a:r>
            <a:r>
              <a:rPr lang="en-GB" sz="2400" spc="-5" dirty="0"/>
              <a:t> </a:t>
            </a:r>
            <a:r>
              <a:rPr lang="en-GB" sz="2400" dirty="0"/>
              <a:t>be</a:t>
            </a:r>
            <a:r>
              <a:rPr lang="en-GB" sz="2400" spc="-25" dirty="0"/>
              <a:t> </a:t>
            </a:r>
            <a:r>
              <a:rPr lang="en-GB" sz="2400" dirty="0"/>
              <a:t>added</a:t>
            </a:r>
            <a:r>
              <a:rPr lang="en-GB" sz="2400" spc="-15" dirty="0"/>
              <a:t> </a:t>
            </a:r>
            <a:r>
              <a:rPr lang="en-GB" sz="2400" dirty="0"/>
              <a:t>to</a:t>
            </a:r>
            <a:r>
              <a:rPr lang="en-GB" sz="2400" spc="-20" dirty="0"/>
              <a:t> </a:t>
            </a:r>
            <a:r>
              <a:rPr lang="en-GB" sz="2400" dirty="0"/>
              <a:t>real</a:t>
            </a:r>
            <a:r>
              <a:rPr lang="en-GB" sz="2400" spc="-15" dirty="0"/>
              <a:t> </a:t>
            </a:r>
            <a:r>
              <a:rPr lang="en-GB" sz="2400" dirty="0"/>
              <a:t>hospital</a:t>
            </a:r>
            <a:r>
              <a:rPr lang="en-GB" sz="2400" spc="-55" dirty="0"/>
              <a:t> </a:t>
            </a:r>
            <a:r>
              <a:rPr lang="en-GB" sz="2400" dirty="0"/>
              <a:t>systems</a:t>
            </a:r>
            <a:r>
              <a:rPr lang="en-GB" sz="2400" spc="10" dirty="0"/>
              <a:t> </a:t>
            </a:r>
            <a:r>
              <a:rPr lang="en-GB" sz="2400" dirty="0"/>
              <a:t>to</a:t>
            </a:r>
            <a:r>
              <a:rPr lang="en-GB" sz="2400" spc="-20" dirty="0"/>
              <a:t> </a:t>
            </a:r>
            <a:r>
              <a:rPr lang="en-GB" sz="2400" dirty="0"/>
              <a:t>help</a:t>
            </a:r>
            <a:r>
              <a:rPr lang="en-GB" sz="2400" spc="-30" dirty="0"/>
              <a:t> </a:t>
            </a:r>
            <a:r>
              <a:rPr lang="en-GB" sz="2400" dirty="0"/>
              <a:t>doctors</a:t>
            </a:r>
            <a:r>
              <a:rPr lang="en-GB" sz="2400" spc="-35" dirty="0"/>
              <a:t> </a:t>
            </a:r>
            <a:r>
              <a:rPr lang="en-GB" sz="2400" spc="-20" dirty="0"/>
              <a:t>make </a:t>
            </a:r>
            <a:r>
              <a:rPr lang="en-GB" sz="2400" dirty="0"/>
              <a:t>safer</a:t>
            </a:r>
            <a:r>
              <a:rPr lang="en-GB" sz="2400" spc="-10" dirty="0"/>
              <a:t> decisions.</a:t>
            </a:r>
            <a:endParaRPr lang="en-GB" sz="2400" dirty="0"/>
          </a:p>
          <a:p>
            <a:pPr marL="213360" marR="299720" indent="-201295">
              <a:lnSpc>
                <a:spcPct val="100000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400" dirty="0"/>
              <a:t>The</a:t>
            </a:r>
            <a:r>
              <a:rPr lang="en-GB" sz="2400" spc="-15" dirty="0"/>
              <a:t> </a:t>
            </a:r>
            <a:r>
              <a:rPr lang="en-GB" sz="2400" dirty="0"/>
              <a:t>accuracy</a:t>
            </a:r>
            <a:r>
              <a:rPr lang="en-GB" sz="2400" spc="-20" dirty="0"/>
              <a:t> </a:t>
            </a:r>
            <a:r>
              <a:rPr lang="en-GB" sz="2400" dirty="0"/>
              <a:t>can</a:t>
            </a:r>
            <a:r>
              <a:rPr lang="en-GB" sz="2400" spc="-20" dirty="0"/>
              <a:t> </a:t>
            </a:r>
            <a:r>
              <a:rPr lang="en-GB" sz="2400" dirty="0"/>
              <a:t>be</a:t>
            </a:r>
            <a:r>
              <a:rPr lang="en-GB" sz="2400" spc="-10" dirty="0"/>
              <a:t> </a:t>
            </a:r>
            <a:r>
              <a:rPr lang="en-GB" sz="2400" dirty="0"/>
              <a:t>increased</a:t>
            </a:r>
            <a:r>
              <a:rPr lang="en-GB" sz="2400" spc="-50" dirty="0"/>
              <a:t> </a:t>
            </a:r>
            <a:r>
              <a:rPr lang="en-GB" sz="2400" dirty="0"/>
              <a:t>by</a:t>
            </a:r>
            <a:r>
              <a:rPr lang="en-GB" sz="2400" spc="-5" dirty="0"/>
              <a:t> </a:t>
            </a:r>
            <a:r>
              <a:rPr lang="en-GB" sz="2400" dirty="0"/>
              <a:t>using</a:t>
            </a:r>
            <a:r>
              <a:rPr lang="en-GB" sz="2400" spc="-35" dirty="0"/>
              <a:t> </a:t>
            </a:r>
            <a:r>
              <a:rPr lang="en-GB" sz="2400" dirty="0"/>
              <a:t>better</a:t>
            </a:r>
            <a:r>
              <a:rPr lang="en-GB" sz="2400" spc="-45" dirty="0"/>
              <a:t> </a:t>
            </a:r>
            <a:r>
              <a:rPr lang="en-GB" sz="2400" dirty="0"/>
              <a:t>tuning</a:t>
            </a:r>
            <a:r>
              <a:rPr lang="en-GB" sz="2400" spc="-35" dirty="0"/>
              <a:t> </a:t>
            </a:r>
            <a:r>
              <a:rPr lang="en-GB" sz="2400" spc="-25" dirty="0"/>
              <a:t>and </a:t>
            </a:r>
            <a:r>
              <a:rPr lang="en-GB" sz="2400" dirty="0"/>
              <a:t>training</a:t>
            </a:r>
            <a:r>
              <a:rPr lang="en-GB" sz="2400" spc="-45" dirty="0"/>
              <a:t> </a:t>
            </a:r>
            <a:r>
              <a:rPr lang="en-GB" sz="2400" spc="-10" dirty="0"/>
              <a:t>methods.</a:t>
            </a:r>
            <a:endParaRPr lang="en-GB" sz="2400" dirty="0"/>
          </a:p>
          <a:p>
            <a:pPr marL="213360" marR="476250" indent="-201295">
              <a:lnSpc>
                <a:spcPct val="101000"/>
              </a:lnSpc>
              <a:buFont typeface="Arial MT"/>
              <a:buChar char="•"/>
              <a:tabLst>
                <a:tab pos="213360" algn="l"/>
              </a:tabLst>
            </a:pPr>
            <a:r>
              <a:rPr lang="en-GB" sz="2400" dirty="0"/>
              <a:t>More </a:t>
            </a:r>
            <a:r>
              <a:rPr lang="en-GB" sz="2400" spc="-10" dirty="0"/>
              <a:t>explainable</a:t>
            </a:r>
            <a:r>
              <a:rPr lang="en-GB" sz="2400" spc="-114" dirty="0"/>
              <a:t> </a:t>
            </a:r>
            <a:r>
              <a:rPr lang="en-GB" sz="2400" dirty="0"/>
              <a:t>AI</a:t>
            </a:r>
            <a:r>
              <a:rPr lang="en-GB" sz="2400" spc="15" dirty="0"/>
              <a:t> </a:t>
            </a:r>
            <a:r>
              <a:rPr lang="en-GB" sz="2400" dirty="0"/>
              <a:t>tools</a:t>
            </a:r>
            <a:r>
              <a:rPr lang="en-GB" sz="2400" spc="-25" dirty="0"/>
              <a:t> </a:t>
            </a:r>
            <a:r>
              <a:rPr lang="en-GB" sz="2400" dirty="0"/>
              <a:t>can</a:t>
            </a:r>
            <a:r>
              <a:rPr lang="en-GB" sz="2400" spc="-10" dirty="0"/>
              <a:t> </a:t>
            </a:r>
            <a:r>
              <a:rPr lang="en-GB" sz="2400" dirty="0"/>
              <a:t>be added</a:t>
            </a:r>
            <a:r>
              <a:rPr lang="en-GB" sz="2400" spc="-25" dirty="0"/>
              <a:t> </a:t>
            </a:r>
            <a:r>
              <a:rPr lang="en-GB" sz="2400" dirty="0"/>
              <a:t>so</a:t>
            </a:r>
            <a:r>
              <a:rPr lang="en-GB" sz="2400" spc="25" dirty="0"/>
              <a:t> </a:t>
            </a:r>
            <a:r>
              <a:rPr lang="en-GB" sz="2400" dirty="0"/>
              <a:t>doctors</a:t>
            </a:r>
            <a:r>
              <a:rPr lang="en-GB" sz="2400" spc="-35" dirty="0"/>
              <a:t> </a:t>
            </a:r>
            <a:r>
              <a:rPr lang="en-GB" sz="2400" spc="-25" dirty="0"/>
              <a:t>can </a:t>
            </a:r>
            <a:r>
              <a:rPr lang="en-GB" sz="2400" dirty="0"/>
              <a:t>clearly</a:t>
            </a:r>
            <a:r>
              <a:rPr lang="en-GB" sz="2400" spc="-30" dirty="0"/>
              <a:t> </a:t>
            </a:r>
            <a:r>
              <a:rPr lang="en-GB" sz="2400" dirty="0"/>
              <a:t>understand</a:t>
            </a:r>
            <a:r>
              <a:rPr lang="en-GB" sz="2400" spc="-40" dirty="0"/>
              <a:t> </a:t>
            </a:r>
            <a:r>
              <a:rPr lang="en-GB" sz="2400" dirty="0"/>
              <a:t>why</a:t>
            </a:r>
            <a:r>
              <a:rPr lang="en-GB" sz="2400" spc="-10" dirty="0"/>
              <a:t> </a:t>
            </a:r>
            <a:r>
              <a:rPr lang="en-GB" sz="2400" dirty="0"/>
              <a:t>the</a:t>
            </a:r>
            <a:r>
              <a:rPr lang="en-GB" sz="2400" spc="-30" dirty="0"/>
              <a:t> </a:t>
            </a:r>
            <a:r>
              <a:rPr lang="en-GB" sz="2400" dirty="0"/>
              <a:t>model</a:t>
            </a:r>
            <a:r>
              <a:rPr lang="en-GB" sz="2400" spc="-10" dirty="0"/>
              <a:t> </a:t>
            </a:r>
            <a:r>
              <a:rPr lang="en-GB" sz="2400" dirty="0"/>
              <a:t>gives</a:t>
            </a:r>
            <a:r>
              <a:rPr lang="en-GB" sz="2400" spc="-25" dirty="0"/>
              <a:t> </a:t>
            </a:r>
            <a:r>
              <a:rPr lang="en-GB" sz="2400" dirty="0"/>
              <a:t>a</a:t>
            </a:r>
            <a:r>
              <a:rPr lang="en-GB" sz="2400" spc="-15" dirty="0"/>
              <a:t> </a:t>
            </a:r>
            <a:r>
              <a:rPr lang="en-GB" sz="2400" spc="-10" dirty="0"/>
              <a:t>result.</a:t>
            </a:r>
            <a:endParaRPr lang="en-GB" sz="2400" dirty="0"/>
          </a:p>
          <a:p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300" b="1" dirty="0"/>
              <a:t>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Requires </a:t>
            </a:r>
            <a:r>
              <a:rPr lang="en-US" sz="2400" b="1" dirty="0"/>
              <a:t>high-end hardware</a:t>
            </a:r>
            <a:r>
              <a:rPr lang="en-US" sz="2400" dirty="0"/>
              <a:t> for training blockchain-integrated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Minor </a:t>
            </a:r>
            <a:r>
              <a:rPr lang="en-US" sz="2400" b="1" dirty="0"/>
              <a:t>latency overhead</a:t>
            </a:r>
            <a:r>
              <a:rPr lang="en-US" sz="2400" dirty="0"/>
              <a:t> due to blockchain consensus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Performance may vary under </a:t>
            </a:r>
            <a:r>
              <a:rPr lang="en-US" sz="2400" b="1" dirty="0"/>
              <a:t>heterogeneous network conditions</a:t>
            </a:r>
            <a:r>
              <a:rPr lang="en-US" sz="2400" dirty="0"/>
              <a:t> and large-scale device diversity.</a:t>
            </a:r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666757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FFB41-DB31-108C-69EA-EB9CCFA5F0DD}"/>
              </a:ext>
            </a:extLst>
          </p:cNvPr>
          <p:cNvSpPr txBox="1"/>
          <p:nvPr/>
        </p:nvSpPr>
        <p:spPr>
          <a:xfrm>
            <a:off x="304800" y="1066800"/>
            <a:ext cx="11734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Ganapathy et al.,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blockchain based federated deep learning model for secure data transmission in IoT environment",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Measurement: Sensors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Sohail Saif et al.,</a:t>
            </a:r>
            <a:r>
              <a:rPr lang="en-US" sz="1800" dirty="0"/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data transmission framework for IoT enabled healthcare environment",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Heliyon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(Elsevier)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1800" dirty="0"/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Rashid et al.,</a:t>
            </a:r>
            <a:r>
              <a:rPr lang="en-US" sz="1800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"Blockchain-based Secure Data Sharing Framework for Healthcare Applications",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et al.,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blockchainorchestrated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approach for secure healthcare data exchange",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Parallel and Distributed Computing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1800" dirty="0"/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Rana et al.,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"Secure Data Delivery in a Software-Defined Wireless Sensor Network using Blockchain",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Telecommunications and Information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Alietal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"HIIDS: Hybrid Intelligent Intrusion Detection System using Block chain",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Microprocessors andMicrosystems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,2022.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"AI and Block chain Based Cloud-Assisted Secure Framework for Medical IoT",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Magazine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US" sz="1800" dirty="0"/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Ghosh et al., </a:t>
            </a:r>
            <a:r>
              <a:rPr lang="en-US" sz="1800" dirty="0"/>
              <a:t>"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DCT-based Secret Key Generation for IoT Data Security",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Hoc Networks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Alhadhrami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</a:t>
            </a:r>
            <a:r>
              <a:rPr lang="en-US" sz="1800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"Blockchain Technology in Healthcare: A Systematic Review",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0]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Singh, G.S. Aujla, A. Singh, N. Kumar, S. Garg,</a:t>
            </a:r>
            <a:r>
              <a:rPr lang="en-US" sz="1800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“Deep-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learningbased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 framework for secure software-defined industrial networks,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1ED2-8F25-27C6-D814-7A6F6A8D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BB00C-B5AB-D5C0-DCC6-68AD5DC88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C214DEF-7FD1-C6BD-C435-30BF8D30BB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61F1AEE-F664-B072-E951-51A2908831C3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412E0AE-1582-3D46-293D-611085247B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2230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A9630B-33F0-329B-CC46-3D442CAFA269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623AB79-95A9-1F68-CD8C-90C88A58553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7F171-EAEE-35C2-C15B-DACF600292CF}"/>
              </a:ext>
            </a:extLst>
          </p:cNvPr>
          <p:cNvSpPr txBox="1"/>
          <p:nvPr/>
        </p:nvSpPr>
        <p:spPr>
          <a:xfrm>
            <a:off x="342900" y="915892"/>
            <a:ext cx="11506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[11]T. Li, A.K. Sahu, A. Talwalkar, V. Smith, </a:t>
            </a:r>
            <a:r>
              <a:rPr lang="en-US" sz="1800" dirty="0"/>
              <a:t>“Federated learning: challenges, methods, and future directions,”  </a:t>
            </a:r>
            <a:endParaRPr lang="en-IN" sz="1800" dirty="0"/>
          </a:p>
          <a:p>
            <a:pPr lvl="0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T.M. Booij, I.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Chiscop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Meeuwissen, N. Moustafa, F.T. den Hartog,</a:t>
            </a:r>
            <a:r>
              <a:rPr lang="en-US" sz="1800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ToN_IoT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Role of Heterogeneity and the Need for Standardization of Features and Attack Types in IoT Network Intrusion Datasets,”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Kamran, H.U. Khan, W. Nisar, M. Farooq, S.U. Rehman,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“Blockchain and Internet of Things: A Bibliometric Study,”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W. Zhang, Z. Wu, G. Han, Y. Feng, L. Shu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“LDC: A Lightweight DADA Consensus Algorithm Based on the Blockchain for the Industrial Internet of Things for Smart City Applications,”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M.U. Hassan, M.H. Rehmani, J. Chen,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“Privacy Preservation in Blockchain-Based IoT Systems: Integration Issues, Prospects, Challenges, and Future Research Directions,”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P. Nirmala, et al.,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 Artificial Intelligence Enabled Smart Industrial Automation System Based on Internet of Things Assistance,”  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[17]R.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Pavaiyarkarasi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Productive Feature Selection Criterion for Bot-IoT Recognition Based on Random Forest Algorithm,”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</a:t>
            </a:r>
            <a:r>
              <a:rPr lang="en-US" sz="1800" b="1" dirty="0"/>
              <a:t> M. Sugadev, et al.,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“Implementation of Combined Machine Learning with the Big Data Model in IoMT Systems for the Prediction of Network Resource Consumption and Improving the Data Delivery,” 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M. Nofer, P. Gomber, O. Hinz, D.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Schiereck</a:t>
            </a:r>
            <a:r>
              <a:rPr lang="en-US" sz="1800" dirty="0"/>
              <a:t>, “Blockchain,”</a:t>
            </a:r>
            <a:endParaRPr lang="en-IN" sz="1800" dirty="0"/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R.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Nowrozy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A.S.M. Kayes, P.A. Watters, M.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Alazab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Ng, M.J.M. Chowdhury, O.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Maruatona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Blockchain-Based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92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457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/>
              <a:t>No.DG1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512425" cy="3648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800" dirty="0"/>
              <a:t>✨ </a:t>
            </a:r>
            <a:r>
              <a:rPr lang="en-US" sz="2800" b="1" dirty="0"/>
              <a:t>Thank you for listening!</a:t>
            </a:r>
            <a:r>
              <a:rPr lang="en-US" sz="2800" dirty="0"/>
              <a:t> ✨</a:t>
            </a:r>
            <a:br>
              <a:rPr lang="en-US" sz="2800" dirty="0"/>
            </a:br>
            <a:r>
              <a:rPr lang="en-US" sz="2800" dirty="0"/>
              <a:t>  </a:t>
            </a:r>
          </a:p>
          <a:p>
            <a:r>
              <a:rPr lang="en-US" sz="2800" dirty="0"/>
              <a:t>            </a:t>
            </a:r>
            <a:r>
              <a:rPr lang="en-US" sz="2400" dirty="0"/>
              <a:t>We’ve shared our journey of building a </a:t>
            </a:r>
            <a:r>
              <a:rPr lang="en-US" sz="2400" b="1" dirty="0"/>
              <a:t>secure and intelligent Healthcare IoT system </a:t>
            </a:r>
            <a:r>
              <a:rPr lang="en-US" sz="2400" dirty="0"/>
              <a:t>using </a:t>
            </a:r>
            <a:r>
              <a:rPr lang="en-US" sz="2400" b="1" dirty="0"/>
              <a:t>Blockchain</a:t>
            </a:r>
            <a:r>
              <a:rPr lang="en-US" sz="2400" dirty="0"/>
              <a:t>, </a:t>
            </a:r>
            <a:r>
              <a:rPr lang="en-US" sz="2400" b="1" dirty="0"/>
              <a:t>Federated Learning</a:t>
            </a:r>
            <a:r>
              <a:rPr lang="en-US" sz="2400" dirty="0"/>
              <a:t>, and </a:t>
            </a:r>
            <a:r>
              <a:rPr lang="en-US" sz="2400" b="1" dirty="0"/>
              <a:t>Differential Privacy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800" dirty="0"/>
              <a:t>      </a:t>
            </a:r>
            <a:r>
              <a:rPr lang="en-US" sz="2400" dirty="0"/>
              <a:t>Now it’s </a:t>
            </a:r>
            <a:r>
              <a:rPr lang="en-US" sz="2400" b="1" dirty="0"/>
              <a:t>your turn</a:t>
            </a:r>
            <a:r>
              <a:rPr lang="en-US" sz="2400" dirty="0"/>
              <a:t> — we’d love to hear your </a:t>
            </a:r>
            <a:r>
              <a:rPr lang="en-US" sz="2400" b="1" dirty="0"/>
              <a:t>questions, thoughts, or suggestions</a:t>
            </a:r>
            <a:r>
              <a:rPr lang="en-US" sz="2400" dirty="0"/>
              <a:t>. 💬</a:t>
            </a:r>
          </a:p>
          <a:p>
            <a:pPr algn="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DG1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06-02-2026</a:t>
            </a:r>
            <a:endParaRPr lang="en-US" spc="-20" dirty="0"/>
          </a:p>
          <a:p>
            <a:pPr marL="12700">
              <a:lnSpc>
                <a:spcPts val="1410"/>
              </a:lnSpc>
            </a:pPr>
            <a:endParaRPr lang="en-US"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483468"/>
            <a:ext cx="11274425" cy="310084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/>
              <a:t>We sincerely thank our guide</a:t>
            </a:r>
            <a:r>
              <a:rPr lang="en-US" sz="2400" b="1" dirty="0"/>
              <a:t> Dr. R. Sathees Kumar </a:t>
            </a:r>
            <a:r>
              <a:rPr lang="en-US" sz="2400" dirty="0"/>
              <a:t>who supported and encouraged us throughout  our project journey.</a:t>
            </a:r>
          </a:p>
          <a:p>
            <a:r>
              <a:rPr lang="en-US" sz="2400" dirty="0"/>
              <a:t>       Your guidance, feedback, and motivation helped us achieve this milestone.</a:t>
            </a:r>
          </a:p>
          <a:p>
            <a:r>
              <a:rPr lang="en-US" sz="2400" dirty="0"/>
              <a:t>       This work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Blockchain-Enabled Federated Deep Learning with Differential Privacy for Secure Healthcare IoT Networks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/>
              <a:t>was made possible through constant learning, teamwork, and dedication. 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4050</Words>
  <Application>Microsoft Office PowerPoint</Application>
  <PresentationFormat>Widescreen</PresentationFormat>
  <Paragraphs>473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 MT</vt:lpstr>
      <vt:lpstr>Arial</vt:lpstr>
      <vt:lpstr>Calibri</vt:lpstr>
      <vt:lpstr>Times New Roman</vt:lpstr>
      <vt:lpstr>Wingdings</vt:lpstr>
      <vt:lpstr>Cambria Math</vt:lpstr>
      <vt:lpstr>Office Theme</vt:lpstr>
      <vt:lpstr>Department of Computer Science and Engineering Lightweight Blockchain-Enabled Federated Deep Learning with Differential Privacy for Secure Healthcare IoT Networks </vt:lpstr>
      <vt:lpstr>OUTLINE</vt:lpstr>
      <vt:lpstr>ABSTRACT</vt:lpstr>
      <vt:lpstr>INTRODUCTION</vt:lpstr>
      <vt:lpstr>LITERATURE SURVEY</vt:lpstr>
      <vt:lpstr>RESEARCH GAPS</vt:lpstr>
      <vt:lpstr>PROBLEM STATEMENT</vt:lpstr>
      <vt:lpstr>PROBLEM STATEMENT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RESULTS &amp; ANALYSIS</vt:lpstr>
      <vt:lpstr>RESULTS &amp; ANALYSIS</vt:lpstr>
      <vt:lpstr>RESULTS &amp; ANALYSIS</vt:lpstr>
      <vt:lpstr>RESULTS &amp;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and FUTURE SCOPE</vt:lpstr>
      <vt:lpstr>CONCLUSION and FUTURE SCOPE</vt:lpstr>
      <vt:lpstr>REFERENCES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keerthana lazarus gujjarlapudi</cp:lastModifiedBy>
  <cp:revision>13</cp:revision>
  <dcterms:created xsi:type="dcterms:W3CDTF">2025-11-01T04:34:19Z</dcterms:created>
  <dcterms:modified xsi:type="dcterms:W3CDTF">2026-02-06T07:00:45Z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2025-11-01T00:00:00Z</vt:filetime>
  </property>
</Properties>
</file>